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6" r:id="rId6"/>
    <p:sldId id="265" r:id="rId7"/>
    <p:sldId id="262" r:id="rId8"/>
    <p:sldId id="263" r:id="rId9"/>
    <p:sldId id="268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8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5428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E211C-D668-D388-9E25-CB763E510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38ABC-8790-260B-ECDB-BC8D27799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D67A2-AC00-B633-5278-31C384016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36918-6BBE-BF66-39F9-0B9AA097C9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00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B2798-1EF6-62F5-2257-838E11E38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4DC19C-AE62-1999-3165-5B612DCD0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2DD84-1D70-0A41-154D-DC86B0B92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66B77-FC0B-B258-0FB9-EB75CAFF67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790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93E24-191E-BED5-C071-CBB783832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C6846-0A3C-7383-3975-34BE1DC91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D0CD5-3E94-ACC5-9CAF-D98973A0B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6447C-1127-27C2-C6F2-332D4060E9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31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6D28D9">
              <a:alpha val="2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187452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87452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</a:t>
            </a:r>
            <a:endParaRPr lang="en-US" sz="86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201168" cy="45720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1179576" y="5440680"/>
            <a:ext cx="201168" cy="82296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1490472" y="5715000"/>
            <a:ext cx="201168" cy="548640"/>
          </a:xfrm>
          <a:prstGeom prst="roundRect">
            <a:avLst>
              <a:gd name="adj" fmla="val 27273"/>
            </a:avLst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1801368" y="5166360"/>
            <a:ext cx="201168" cy="1097280"/>
          </a:xfrm>
          <a:prstGeom prst="roundRect">
            <a:avLst>
              <a:gd name="adj" fmla="val 27273"/>
            </a:avLst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2112264" y="5532120"/>
            <a:ext cx="201168" cy="73152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2423160" y="4892040"/>
            <a:ext cx="201168" cy="137160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2734056" y="5349240"/>
            <a:ext cx="201168" cy="914400"/>
          </a:xfrm>
          <a:prstGeom prst="roundRect">
            <a:avLst>
              <a:gd name="adj" fmla="val 27273"/>
            </a:avLst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3044952" y="5623560"/>
            <a:ext cx="201168" cy="640080"/>
          </a:xfrm>
          <a:prstGeom prst="roundRect">
            <a:avLst>
              <a:gd name="adj" fmla="val 27273"/>
            </a:avLst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3355848" y="5074920"/>
            <a:ext cx="201168" cy="118872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6"/>
          <p:cNvSpPr/>
          <p:nvPr/>
        </p:nvSpPr>
        <p:spPr>
          <a:xfrm>
            <a:off x="3666744" y="5760720"/>
            <a:ext cx="201168" cy="50292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7"/>
          <p:cNvSpPr/>
          <p:nvPr/>
        </p:nvSpPr>
        <p:spPr>
          <a:xfrm>
            <a:off x="3977640" y="5257800"/>
            <a:ext cx="201168" cy="1005840"/>
          </a:xfrm>
          <a:prstGeom prst="roundRect">
            <a:avLst>
              <a:gd name="adj" fmla="val 27273"/>
            </a:avLst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8"/>
          <p:cNvSpPr/>
          <p:nvPr/>
        </p:nvSpPr>
        <p:spPr>
          <a:xfrm>
            <a:off x="4288536" y="5486400"/>
            <a:ext cx="201168" cy="777240"/>
          </a:xfrm>
          <a:prstGeom prst="roundRect">
            <a:avLst>
              <a:gd name="adj" fmla="val 27273"/>
            </a:avLst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19"/>
          <p:cNvSpPr/>
          <p:nvPr/>
        </p:nvSpPr>
        <p:spPr>
          <a:xfrm>
            <a:off x="4599432" y="4983480"/>
            <a:ext cx="201168" cy="128016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0"/>
          <p:cNvSpPr/>
          <p:nvPr/>
        </p:nvSpPr>
        <p:spPr>
          <a:xfrm>
            <a:off x="4910328" y="5669280"/>
            <a:ext cx="201168" cy="59436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6766560" y="5989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Gli artefatti rilasciati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198059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1051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3rd Sprint Release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54480" y="213969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sorgente + unit test (JUnit) sul repository GitHub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65176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94" y="2940710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77063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backlog &amp; Product backlog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554480" y="309981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Mantenuti su Trello e </a:t>
            </a:r>
            <a:r>
              <a:rPr lang="en-US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Google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61188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894" y="3900830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73075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Burndown chart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554480" y="405993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 esteso </a:t>
            </a:r>
            <a:r>
              <a:rPr lang="en-US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sull'intero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Progetto e </a:t>
            </a:r>
            <a:r>
              <a:rPr lang="en-US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aggiornato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alla sprint </a:t>
            </a:r>
            <a:r>
              <a:rPr lang="en-US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corrente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57200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894" y="4860950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69087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Review report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554480" y="502005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 pianificati vs completati, velocity, issue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53212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894" y="5821070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65099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Retrospective report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554480" y="598017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Diagramma starfish, focalizzato sul processo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772400" y="1691640"/>
            <a:ext cx="3776472" cy="4014216"/>
          </a:xfrm>
          <a:prstGeom prst="roundRect">
            <a:avLst>
              <a:gd name="adj" fmla="val 2421"/>
            </a:avLst>
          </a:prstGeom>
          <a:solidFill>
            <a:srgbClr val="15122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Text 23"/>
          <p:cNvSpPr/>
          <p:nvPr/>
        </p:nvSpPr>
        <p:spPr>
          <a:xfrm>
            <a:off x="8092440" y="192024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412480" y="2615185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412480" y="2911116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B9B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</a:t>
            </a:r>
            <a:r>
              <a:rPr lang="en-US" sz="1050" dirty="0">
                <a:solidFill>
                  <a:srgbClr val="B9B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test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8412480" y="3729922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Trello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8430768" y="403001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task board e tracciamento attività</a:t>
            </a:r>
            <a:endParaRPr lang="en-US" sz="1050" dirty="0"/>
          </a:p>
        </p:txBody>
      </p:sp>
      <p:sp>
        <p:nvSpPr>
          <p:cNvPr id="41" name="Text 31"/>
          <p:cNvSpPr/>
          <p:nvPr/>
        </p:nvSpPr>
        <p:spPr>
          <a:xfrm>
            <a:off x="8705088" y="404164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2" name="Text 32"/>
          <p:cNvSpPr/>
          <p:nvPr/>
        </p:nvSpPr>
        <p:spPr>
          <a:xfrm>
            <a:off x="8705088" y="431596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8092440" y="4901184"/>
            <a:ext cx="3136392" cy="0"/>
          </a:xfrm>
          <a:prstGeom prst="line">
            <a:avLst/>
          </a:prstGeom>
          <a:noFill/>
          <a:ln w="12700">
            <a:solidFill>
              <a:srgbClr val="3A34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34"/>
          <p:cNvSpPr/>
          <p:nvPr/>
        </p:nvSpPr>
        <p:spPr>
          <a:xfrm>
            <a:off x="8092440" y="5065776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Backlog aggiornato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37" y="2035089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7537" y="1946841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Completate — Sprint 3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47537" y="22808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marcate come Done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60120" y="2483914"/>
            <a:ext cx="4251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</a:rPr>
              <a:t>US11 · </a:t>
            </a:r>
            <a:r>
              <a:rPr lang="it-IT" sz="1100" dirty="0">
                <a:solidFill>
                  <a:srgbClr val="1E1B3A"/>
                </a:solidFill>
                <a:latin typeface="Calibri" pitchFamily="34" charset="0"/>
              </a:rPr>
              <a:t>Riproduzione playlist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</a:rPr>
              <a:t>—  4 SP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</a:rPr>
              <a:t>US13 · </a:t>
            </a:r>
            <a:r>
              <a:rPr lang="it-IT" sz="1100" dirty="0">
                <a:solidFill>
                  <a:srgbClr val="1E1B3A"/>
                </a:solidFill>
                <a:latin typeface="Calibri" pitchFamily="34" charset="0"/>
              </a:rPr>
              <a:t>Navigazione tracce nella playlist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</a:rPr>
              <a:t>—  2 SP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</a:rPr>
              <a:t>US14 · </a:t>
            </a:r>
            <a:r>
              <a:rPr lang="it-IT" sz="1100" dirty="0">
                <a:solidFill>
                  <a:srgbClr val="1E1B3A"/>
                </a:solidFill>
                <a:latin typeface="Calibri" pitchFamily="34" charset="0"/>
              </a:rPr>
              <a:t>Scelta modalità di riproduzione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</a:rPr>
              <a:t>—  1 SP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</a:rPr>
              <a:t>US17 · </a:t>
            </a:r>
            <a:r>
              <a:rPr lang="it-IT" sz="1100" dirty="0">
                <a:solidFill>
                  <a:srgbClr val="1E1B3A"/>
                </a:solidFill>
                <a:latin typeface="Calibri" pitchFamily="34" charset="0"/>
              </a:rPr>
              <a:t>Annullamento operazione aggiunta/rimozione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</a:rPr>
              <a:t>—  2 SP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</a:rPr>
              <a:t>US18 · </a:t>
            </a:r>
            <a:r>
              <a:rPr lang="it-IT" sz="1100" dirty="0">
                <a:solidFill>
                  <a:srgbClr val="1E1B3A"/>
                </a:solidFill>
                <a:latin typeface="Calibri" pitchFamily="34" charset="0"/>
              </a:rPr>
              <a:t>Visualizzazione tracce più frequenti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</a:rPr>
              <a:t>—  3 SP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</a:rPr>
              <a:t>US19 · </a:t>
            </a:r>
            <a:r>
              <a:rPr lang="it-IT" sz="1100" dirty="0">
                <a:solidFill>
                  <a:srgbClr val="1E1B3A"/>
                </a:solidFill>
                <a:latin typeface="Calibri" pitchFamily="34" charset="0"/>
              </a:rPr>
              <a:t>Visualizzazione playlist più frequenti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</a:rPr>
              <a:t>—  3 SP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</a:rPr>
              <a:t>US20 · </a:t>
            </a:r>
            <a:r>
              <a:rPr lang="it-IT" sz="1100" dirty="0">
                <a:solidFill>
                  <a:srgbClr val="1E1B3A"/>
                </a:solidFill>
                <a:latin typeface="Calibri" pitchFamily="34" charset="0"/>
              </a:rPr>
              <a:t>Generazione playlist per genere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</a:rPr>
              <a:t>—  3 SP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</a:rPr>
              <a:t>US21 · </a:t>
            </a:r>
            <a:r>
              <a:rPr lang="it-IT" sz="1100" dirty="0">
                <a:solidFill>
                  <a:srgbClr val="1E1B3A"/>
                </a:solidFill>
                <a:latin typeface="Calibri" pitchFamily="34" charset="0"/>
              </a:rPr>
              <a:t>Generazione playlist per anno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</a:rPr>
              <a:t>—  3 SP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</a:rPr>
              <a:t>US23 · </a:t>
            </a:r>
            <a:r>
              <a:rPr lang="it-IT" sz="1100" dirty="0">
                <a:solidFill>
                  <a:srgbClr val="1E1B3A"/>
                </a:solidFill>
                <a:latin typeface="Calibri" pitchFamily="34" charset="0"/>
              </a:rPr>
              <a:t>Uso tag per generazione playlist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</a:rPr>
              <a:t>—  3 SP</a:t>
            </a:r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it-IT" sz="1100" dirty="0">
                <a:solidFill>
                  <a:srgbClr val="1E1B3A"/>
                </a:solidFill>
                <a:latin typeface="Calibri" pitchFamily="34" charset="0"/>
              </a:rPr>
              <a:t>US24 — Riordinamento delle tracce (non completata, rimane nel backlog)</a:t>
            </a:r>
            <a:endParaRPr lang="en-US" sz="1100" dirty="0"/>
          </a:p>
          <a:p>
            <a:pPr>
              <a:spcAft>
                <a:spcPts val="900"/>
              </a:spcAft>
              <a:buSzPct val="100000"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42432" y="1627632"/>
            <a:ext cx="580644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889" y="203508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49889" y="18928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Rimasto </a:t>
            </a:r>
            <a:r>
              <a:rPr lang="en-US" sz="1600" b="1" dirty="0" err="1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nel</a:t>
            </a:r>
            <a:r>
              <a:rPr lang="en-US" sz="16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backlog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062472" y="2496312"/>
            <a:ext cx="5166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100" dirty="0"/>
          </a:p>
          <a:p>
            <a:pPr>
              <a:spcAft>
                <a:spcPts val="500"/>
              </a:spcAft>
            </a:pP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914400" y="587044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90607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8076" y="2743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 Backlog</a:t>
            </a:r>
            <a:endParaRPr lang="en-US" sz="3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750479"/>
              </p:ext>
            </p:extLst>
          </p:nvPr>
        </p:nvGraphicFramePr>
        <p:xfrm>
          <a:off x="1788766" y="898994"/>
          <a:ext cx="8611420" cy="5132427"/>
        </p:xfrm>
        <a:graphic>
          <a:graphicData uri="http://schemas.openxmlformats.org/drawingml/2006/table">
            <a:tbl>
              <a:tblPr/>
              <a:tblGrid>
                <a:gridCol w="1330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0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40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10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User Story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SP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Stato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1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US11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it-IT" sz="1200" dirty="0">
                          <a:solidFill>
                            <a:srgbClr val="1E1B3A"/>
                          </a:solidFill>
                          <a:latin typeface="Calibri" pitchFamily="34" charset="0"/>
                        </a:rPr>
                        <a:t>Riproduzione playlist</a:t>
                      </a:r>
                      <a:endParaRPr lang="en-US" sz="1150" dirty="0"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1B3A"/>
                          </a:solidFill>
                          <a:latin typeface="Calibri" pitchFamily="34" charset="0"/>
                        </a:rPr>
                        <a:t>4</a:t>
                      </a:r>
                      <a:endParaRPr lang="en-US" sz="1150" dirty="0"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</a:rPr>
                        <a:t>✔ Done</a:t>
                      </a:r>
                      <a:endParaRPr lang="en-US" sz="1150" dirty="0">
                        <a:latin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1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US13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it-IT" sz="1200" dirty="0">
                          <a:solidFill>
                            <a:srgbClr val="1E1B3A"/>
                          </a:solidFill>
                          <a:latin typeface="Calibri" pitchFamily="34" charset="0"/>
                        </a:rPr>
                        <a:t>Navigazione tracce nella playlist</a:t>
                      </a:r>
                      <a:endParaRPr lang="en-US" sz="1150" dirty="0"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1B3A"/>
                          </a:solidFill>
                          <a:latin typeface="Calibri" pitchFamily="34" charset="0"/>
                        </a:rPr>
                        <a:t>2</a:t>
                      </a:r>
                      <a:endParaRPr lang="en-US" sz="1150" dirty="0"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</a:rPr>
                        <a:t>✔ Done</a:t>
                      </a:r>
                      <a:endParaRPr lang="en-US" sz="1150" dirty="0">
                        <a:latin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1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US14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it-IT" sz="1200" dirty="0">
                          <a:solidFill>
                            <a:srgbClr val="1E1B3A"/>
                          </a:solidFill>
                          <a:latin typeface="Calibri" pitchFamily="34" charset="0"/>
                        </a:rPr>
                        <a:t>Scelta modalità di riproduzione</a:t>
                      </a:r>
                      <a:endParaRPr lang="en-US" sz="1150" dirty="0"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1B3A"/>
                          </a:solidFill>
                          <a:latin typeface="Calibri" pitchFamily="34" charset="0"/>
                        </a:rPr>
                        <a:t>1</a:t>
                      </a:r>
                      <a:endParaRPr lang="en-US" sz="1150" dirty="0"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</a:rPr>
                        <a:t>✔ Done</a:t>
                      </a:r>
                      <a:endParaRPr lang="en-US" sz="1150" dirty="0">
                        <a:latin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1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US17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it-IT" sz="1200" dirty="0">
                          <a:solidFill>
                            <a:srgbClr val="1E1B3A"/>
                          </a:solidFill>
                          <a:latin typeface="Calibri" pitchFamily="34" charset="0"/>
                        </a:rPr>
                        <a:t>Annullamento operazione aggiunta/rimozione</a:t>
                      </a:r>
                      <a:endParaRPr lang="en-US" sz="1150" dirty="0"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1B3A"/>
                          </a:solidFill>
                          <a:latin typeface="Calibri" pitchFamily="34" charset="0"/>
                        </a:rPr>
                        <a:t>2</a:t>
                      </a:r>
                      <a:endParaRPr lang="en-US" sz="1150" dirty="0"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</a:rPr>
                        <a:t>✔ Done</a:t>
                      </a:r>
                      <a:endParaRPr lang="en-US" sz="1150" dirty="0">
                        <a:latin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1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US18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it-IT" sz="1200" dirty="0">
                          <a:solidFill>
                            <a:srgbClr val="1E1B3A"/>
                          </a:solidFill>
                          <a:latin typeface="Calibri" pitchFamily="34" charset="0"/>
                        </a:rPr>
                        <a:t>Visualizzazione tracce più frequenti</a:t>
                      </a:r>
                      <a:endParaRPr lang="en-US" sz="1150" dirty="0"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1B3A"/>
                          </a:solidFill>
                          <a:latin typeface="Calibri" pitchFamily="34" charset="0"/>
                        </a:rPr>
                        <a:t>3</a:t>
                      </a:r>
                      <a:endParaRPr lang="en-US" sz="1150" dirty="0"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</a:rPr>
                        <a:t>✔ Done</a:t>
                      </a:r>
                      <a:endParaRPr lang="en-US" sz="1150" dirty="0">
                        <a:latin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1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US19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it-IT" sz="1200" dirty="0">
                          <a:solidFill>
                            <a:srgbClr val="1E1B3A"/>
                          </a:solidFill>
                          <a:latin typeface="Calibri" pitchFamily="34" charset="0"/>
                        </a:rPr>
                        <a:t>Visualizzazione playlist più frequenti</a:t>
                      </a:r>
                      <a:endParaRPr lang="en-US" sz="1150" dirty="0"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1B3A"/>
                          </a:solidFill>
                          <a:latin typeface="Calibri" pitchFamily="34" charset="0"/>
                        </a:rPr>
                        <a:t>3</a:t>
                      </a:r>
                      <a:endParaRPr lang="en-US" sz="1150" dirty="0"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</a:rPr>
                        <a:t>✔ Done</a:t>
                      </a:r>
                      <a:endParaRPr lang="en-US" sz="1150" dirty="0">
                        <a:latin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1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US20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it-IT" sz="1200" dirty="0">
                          <a:solidFill>
                            <a:srgbClr val="1E1B3A"/>
                          </a:solidFill>
                          <a:latin typeface="Calibri" pitchFamily="34" charset="0"/>
                        </a:rPr>
                        <a:t>Generazione playlist per genere</a:t>
                      </a:r>
                      <a:endParaRPr lang="en-US" sz="1150" dirty="0"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1B3A"/>
                          </a:solidFill>
                          <a:latin typeface="Calibri" pitchFamily="34" charset="0"/>
                        </a:rPr>
                        <a:t>3</a:t>
                      </a:r>
                      <a:endParaRPr lang="en-US" sz="1150" dirty="0"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</a:rPr>
                        <a:t>✔ Done</a:t>
                      </a:r>
                      <a:endParaRPr lang="en-US" sz="1150" dirty="0">
                        <a:latin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1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US21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it-IT" sz="1200" dirty="0">
                          <a:solidFill>
                            <a:srgbClr val="1E1B3A"/>
                          </a:solidFill>
                          <a:latin typeface="Calibri" pitchFamily="34" charset="0"/>
                        </a:rPr>
                        <a:t>Generazione playlist per anno</a:t>
                      </a:r>
                      <a:endParaRPr lang="en-US" sz="1150" dirty="0"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1B3A"/>
                          </a:solidFill>
                          <a:latin typeface="Calibri" pitchFamily="34" charset="0"/>
                        </a:rPr>
                        <a:t>3</a:t>
                      </a:r>
                      <a:endParaRPr lang="en-US" sz="1150" dirty="0"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</a:rPr>
                        <a:t>✔ Done</a:t>
                      </a:r>
                      <a:endParaRPr lang="en-US" sz="1150" dirty="0">
                        <a:latin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21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US23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it-IT" sz="1200" dirty="0">
                          <a:solidFill>
                            <a:srgbClr val="1E1B3A"/>
                          </a:solidFill>
                          <a:latin typeface="Calibri" pitchFamily="34" charset="0"/>
                        </a:rPr>
                        <a:t>Uso tag per generazione playlist</a:t>
                      </a:r>
                      <a:endParaRPr lang="en-US" sz="1150" dirty="0"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1B3A"/>
                          </a:solidFill>
                          <a:latin typeface="Calibri" pitchFamily="34" charset="0"/>
                        </a:rPr>
                        <a:t>3</a:t>
                      </a:r>
                      <a:endParaRPr lang="en-US" sz="1150" dirty="0"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</a:rPr>
                        <a:t>✔ Done</a:t>
                      </a:r>
                      <a:endParaRPr lang="en-US" sz="1150" dirty="0">
                        <a:latin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21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US24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it-IT" sz="1200" dirty="0">
                          <a:solidFill>
                            <a:srgbClr val="1E1B3A"/>
                          </a:solidFill>
                          <a:latin typeface="Calibri" pitchFamily="34" charset="0"/>
                        </a:rPr>
                        <a:t>Riordinamento delle tracce</a:t>
                      </a:r>
                      <a:endParaRPr lang="en-US" sz="1150" dirty="0"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1B3A"/>
                          </a:solidFill>
                          <a:latin typeface="Calibri" pitchFamily="34" charset="0"/>
                        </a:rPr>
                        <a:t>2</a:t>
                      </a:r>
                      <a:endParaRPr lang="en-US" sz="1150" dirty="0">
                        <a:latin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</a:rPr>
                        <a:t>✔ Done</a:t>
                      </a:r>
                      <a:endParaRPr lang="en-US" sz="1150" dirty="0">
                        <a:latin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640080" y="6153175"/>
            <a:ext cx="10908792" cy="689423"/>
          </a:xfrm>
          <a:prstGeom prst="roundRect">
            <a:avLst>
              <a:gd name="adj" fmla="val 12195"/>
            </a:avLst>
          </a:prstGeom>
          <a:solidFill>
            <a:srgbClr val="15122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6" name="Text 3"/>
          <p:cNvSpPr/>
          <p:nvPr/>
        </p:nvSpPr>
        <p:spPr>
          <a:xfrm>
            <a:off x="882396" y="5976481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9B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Totale </a:t>
            </a:r>
            <a:r>
              <a:rPr lang="en-US" sz="1600" dirty="0" err="1">
                <a:solidFill>
                  <a:srgbClr val="B9B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impegnato</a:t>
            </a:r>
            <a:r>
              <a:rPr lang="en-US" sz="1600" dirty="0">
                <a:solidFill>
                  <a:srgbClr val="B9B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</a:t>
            </a: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 SP</a:t>
            </a:r>
            <a:r>
              <a:rPr lang="en-US" sz="1600" dirty="0">
                <a:solidFill>
                  <a:srgbClr val="B9B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  </a:t>
            </a:r>
            <a:r>
              <a:rPr lang="en-US" sz="1600" dirty="0" err="1">
                <a:solidFill>
                  <a:srgbClr val="B9B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Completati</a:t>
            </a:r>
            <a:r>
              <a:rPr lang="en-US" sz="1600" dirty="0">
                <a:solidFill>
                  <a:srgbClr val="B9B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</a:t>
            </a: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 SP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41066A-6A10-2979-58DA-1DA2A97A3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F79AC3-B62B-6EF2-2650-100661B85DDB}"/>
              </a:ext>
            </a:extLst>
          </p:cNvPr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5DF711B-E990-6F57-0C76-4FCB58753C98}"/>
              </a:ext>
            </a:extLst>
          </p:cNvPr>
          <p:cNvSpPr/>
          <p:nvPr/>
        </p:nvSpPr>
        <p:spPr>
          <a:xfrm>
            <a:off x="579120" y="2743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 Sprint 3</a:t>
            </a:r>
            <a:endParaRPr lang="en-US" sz="3300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1C18FC26-8426-4640-5C3B-689DB8A42ADE}"/>
              </a:ext>
            </a:extLst>
          </p:cNvPr>
          <p:cNvSpPr txBox="1"/>
          <p:nvPr/>
        </p:nvSpPr>
        <p:spPr>
          <a:xfrm>
            <a:off x="1527524" y="1083564"/>
            <a:ext cx="1853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Command Pattern</a:t>
            </a:r>
          </a:p>
          <a:p>
            <a:r>
              <a:rPr lang="it-IT" dirty="0"/>
              <a:t>Strategy Pattern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4D97F600-0372-07B3-8A00-86D9EC8AA49D}"/>
              </a:ext>
            </a:extLst>
          </p:cNvPr>
          <p:cNvSpPr txBox="1"/>
          <p:nvPr/>
        </p:nvSpPr>
        <p:spPr>
          <a:xfrm>
            <a:off x="7843520" y="2607658"/>
            <a:ext cx="1403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7642798F-5813-15E2-712C-BC875EBC1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922" y="2191109"/>
            <a:ext cx="6905175" cy="3621862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CBFB3BCA-FE87-8AEE-9ED6-8B539D1C6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02" y="1912774"/>
            <a:ext cx="4452066" cy="429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966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EA258-087F-DC53-C6CF-80F2B8C0F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515C69-46E2-42F9-2C6E-A453418BFD6A}"/>
              </a:ext>
            </a:extLst>
          </p:cNvPr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ARTIFACT · PRODUCT BACKLOG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F7ACCB-7200-5A14-FF03-05CB8DA7736E}"/>
              </a:ext>
            </a:extLst>
          </p:cNvPr>
          <p:cNvSpPr/>
          <p:nvPr/>
        </p:nvSpPr>
        <p:spPr>
          <a:xfrm>
            <a:off x="612648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Burndown Chart</a:t>
            </a:r>
            <a:endParaRPr lang="en-US" sz="3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2942A9B-CF12-1545-1DAA-BECE52455949}"/>
              </a:ext>
            </a:extLst>
          </p:cNvPr>
          <p:cNvSpPr/>
          <p:nvPr/>
        </p:nvSpPr>
        <p:spPr>
          <a:xfrm>
            <a:off x="438912" y="1444752"/>
            <a:ext cx="5820572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E3301D20-F44B-BBC4-7A90-7EA4F10AB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37" y="2035089"/>
            <a:ext cx="245791" cy="245791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9E8C0848-50AB-CB59-58E9-11C16E8E5D54}"/>
              </a:ext>
            </a:extLst>
          </p:cNvPr>
          <p:cNvSpPr/>
          <p:nvPr/>
        </p:nvSpPr>
        <p:spPr>
          <a:xfrm>
            <a:off x="1536192" y="190195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4F82FB5-F2D4-AF49-4D05-164C0B81C0B5}"/>
              </a:ext>
            </a:extLst>
          </p:cNvPr>
          <p:cNvSpPr/>
          <p:nvPr/>
        </p:nvSpPr>
        <p:spPr>
          <a:xfrm>
            <a:off x="1536192" y="22128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7F1E744-E658-8DFF-7E07-7716A55DFD7B}"/>
              </a:ext>
            </a:extLst>
          </p:cNvPr>
          <p:cNvSpPr/>
          <p:nvPr/>
        </p:nvSpPr>
        <p:spPr>
          <a:xfrm>
            <a:off x="960120" y="2679192"/>
            <a:ext cx="4251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900"/>
              </a:spcAft>
              <a:buSzPct val="100000"/>
            </a:pPr>
            <a:endParaRPr lang="en-US" sz="12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8C5E919-699C-5A65-377B-C0704FF16526}"/>
              </a:ext>
            </a:extLst>
          </p:cNvPr>
          <p:cNvSpPr/>
          <p:nvPr/>
        </p:nvSpPr>
        <p:spPr>
          <a:xfrm>
            <a:off x="6733252" y="1705772"/>
            <a:ext cx="4807250" cy="3661623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573485D-5765-5890-DF3A-865991930B0F}"/>
              </a:ext>
            </a:extLst>
          </p:cNvPr>
          <p:cNvSpPr/>
          <p:nvPr/>
        </p:nvSpPr>
        <p:spPr>
          <a:xfrm>
            <a:off x="6638544" y="2011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966EA353-F726-11CB-72DC-385179850F6B}"/>
              </a:ext>
            </a:extLst>
          </p:cNvPr>
          <p:cNvSpPr/>
          <p:nvPr/>
        </p:nvSpPr>
        <p:spPr>
          <a:xfrm>
            <a:off x="7356764" y="2033992"/>
            <a:ext cx="3672563" cy="29626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it-IT" dirty="0"/>
              <a:t>Il </a:t>
            </a:r>
            <a:r>
              <a:rPr lang="it-IT" dirty="0" err="1"/>
              <a:t>Burndown</a:t>
            </a:r>
            <a:r>
              <a:rPr lang="it-IT" dirty="0"/>
              <a:t> Chart riportato illustra la progressione dell'intero progetto di 3 sprint, con un carico complessivo di 81 Story Point.</a:t>
            </a:r>
            <a:endParaRPr lang="it-IT" dirty="0">
              <a:latin typeface="Trebuchet MS" panose="020B0603020202020204" pitchFamily="34" charset="0"/>
            </a:endParaRPr>
          </a:p>
          <a:p>
            <a:endParaRPr lang="it-IT" dirty="0">
              <a:latin typeface="Trebuchet MS" panose="020B0603020202020204" pitchFamily="34" charset="0"/>
            </a:endParaRPr>
          </a:p>
          <a:p>
            <a:r>
              <a:rPr lang="it-IT" dirty="0"/>
              <a:t>Al termine dello Sprint 3 la curva reale è in linea con quella ideale.</a:t>
            </a:r>
            <a:endParaRPr lang="it-IT" dirty="0">
              <a:latin typeface="Trebuchet MS" panose="020B0603020202020204" pitchFamily="34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295EC094-E2EE-288B-49D3-D281FA1E0915}"/>
              </a:ext>
            </a:extLst>
          </p:cNvPr>
          <p:cNvSpPr/>
          <p:nvPr/>
        </p:nvSpPr>
        <p:spPr>
          <a:xfrm>
            <a:off x="914400" y="587044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88C43248-AA00-446D-2B31-26ED0F3C8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537" y="2111247"/>
            <a:ext cx="4655140" cy="240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908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Review report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467612" y="1601863"/>
            <a:ext cx="352958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674620" y="1725515"/>
            <a:ext cx="9829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latin typeface="Trebuchet MS" pitchFamily="34" charset="0"/>
              </a:rPr>
              <a:t>26</a:t>
            </a:r>
            <a:endParaRPr lang="en-US" sz="5000" b="1" dirty="0"/>
          </a:p>
        </p:txBody>
      </p:sp>
      <p:sp>
        <p:nvSpPr>
          <p:cNvPr id="6" name="Text 4"/>
          <p:cNvSpPr/>
          <p:nvPr/>
        </p:nvSpPr>
        <p:spPr>
          <a:xfrm>
            <a:off x="2370582" y="2463477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 pianificati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04004" y="1700784"/>
            <a:ext cx="2980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000" dirty="0"/>
          </a:p>
        </p:txBody>
      </p:sp>
      <p:sp>
        <p:nvSpPr>
          <p:cNvPr id="10" name="Shape 8"/>
          <p:cNvSpPr/>
          <p:nvPr/>
        </p:nvSpPr>
        <p:spPr>
          <a:xfrm>
            <a:off x="7168896" y="1627632"/>
            <a:ext cx="352958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1" name="Text 9"/>
          <p:cNvSpPr/>
          <p:nvPr/>
        </p:nvSpPr>
        <p:spPr>
          <a:xfrm>
            <a:off x="8407908" y="1700784"/>
            <a:ext cx="110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latin typeface="Trebuchet MS" pitchFamily="34" charset="0"/>
              </a:rPr>
              <a:t>26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8103590" y="2487168"/>
            <a:ext cx="1660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completati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2748" y="35112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467612" y="3200400"/>
            <a:ext cx="9230868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7"/>
          <p:cNvSpPr/>
          <p:nvPr/>
        </p:nvSpPr>
        <p:spPr>
          <a:xfrm>
            <a:off x="5170101" y="3440638"/>
            <a:ext cx="17718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Backlog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3861054" y="3976133"/>
            <a:ext cx="4846320" cy="18181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</a:t>
            </a: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user story </a:t>
            </a:r>
            <a:r>
              <a:rPr lang="en-US" sz="12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rifiutata</a:t>
            </a: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stories </a:t>
            </a:r>
            <a:r>
              <a:rPr lang="en-US" sz="12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completate</a:t>
            </a: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marcate</a:t>
            </a: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Done, non eliminate.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Agile sailboat retrospective - terelegal">
            <a:extLst>
              <a:ext uri="{FF2B5EF4-FFF2-40B4-BE49-F238E27FC236}">
                <a16:creationId xmlns:a16="http://schemas.microsoft.com/office/drawing/2014/main" id="{105AE8D1-5490-EFEB-9913-188876573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7646" y="-708659"/>
            <a:ext cx="12820261" cy="9340476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612648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Diagramma starfish — focus sul processo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320040" y="178308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452" y="222857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5384" y="187106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" y="31181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5335" y="2377440"/>
            <a:ext cx="1508760" cy="0"/>
          </a:xfrm>
          <a:prstGeom prst="line">
            <a:avLst/>
          </a:prstGeom>
          <a:noFill/>
          <a:ln w="12700">
            <a:solidFill>
              <a:srgbClr val="E7E5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405384" y="2593756"/>
            <a:ext cx="176479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it-IT" sz="1100" dirty="0"/>
              <a:t>Definire </a:t>
            </a:r>
            <a:r>
              <a:rPr lang="it-IT" sz="1100" dirty="0" err="1"/>
              <a:t>acceptance</a:t>
            </a:r>
            <a:r>
              <a:rPr lang="it-IT" sz="1100" dirty="0"/>
              <a:t> </a:t>
            </a:r>
            <a:r>
              <a:rPr lang="it-IT" sz="1100" dirty="0" err="1"/>
              <a:t>criteria</a:t>
            </a:r>
            <a:r>
              <a:rPr lang="it-IT" sz="1100" dirty="0"/>
              <a:t> più dettagliate in sprint planning, specialmente per US con requisiti di persistenza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70048" y="178308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/>
          <p:nvPr/>
        </p:nvSpPr>
        <p:spPr>
          <a:xfrm>
            <a:off x="2761488" y="1880273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of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761488" y="31181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127248" y="2394065"/>
            <a:ext cx="1508760" cy="0"/>
          </a:xfrm>
          <a:prstGeom prst="line">
            <a:avLst/>
          </a:prstGeom>
          <a:noFill/>
          <a:ln w="12700">
            <a:solidFill>
              <a:srgbClr val="E7E5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3"/>
          <p:cNvSpPr/>
          <p:nvPr/>
        </p:nvSpPr>
        <p:spPr>
          <a:xfrm>
            <a:off x="2855976" y="2589415"/>
            <a:ext cx="176479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it-IT" sz="1100" dirty="0"/>
              <a:t>Stimare gli story points considerando le dipendenze tecniche nascoste (es. persistenza di funzionalità apparentemente semplici)</a:t>
            </a:r>
            <a:endParaRPr lang="it-IT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020056" y="178308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6468" y="2228576"/>
            <a:ext cx="316017" cy="31601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11496" y="188110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doing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5111496" y="31181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340096" y="2386584"/>
            <a:ext cx="1508760" cy="0"/>
          </a:xfrm>
          <a:prstGeom prst="line">
            <a:avLst/>
          </a:prstGeom>
          <a:noFill/>
          <a:ln w="12700">
            <a:solidFill>
              <a:srgbClr val="E7E5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9"/>
          <p:cNvSpPr/>
          <p:nvPr/>
        </p:nvSpPr>
        <p:spPr>
          <a:xfrm>
            <a:off x="5221224" y="2557760"/>
            <a:ext cx="176479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it-IT" sz="1100" dirty="0"/>
              <a:t>Collaborazione e organizzazione del team notevolmente migliorate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it-IT" sz="1100" dirty="0"/>
              <a:t>Gestione di GitHub efficace: </a:t>
            </a:r>
            <a:r>
              <a:rPr lang="it-IT" sz="1100" dirty="0" err="1"/>
              <a:t>branch</a:t>
            </a:r>
            <a:r>
              <a:rPr lang="it-IT" sz="1100" dirty="0"/>
              <a:t>, </a:t>
            </a:r>
            <a:r>
              <a:rPr lang="it-IT" sz="1100" dirty="0" err="1"/>
              <a:t>commit</a:t>
            </a:r>
            <a:r>
              <a:rPr lang="it-IT" sz="1100" dirty="0"/>
              <a:t> e comunicazione interna senza conflitti</a:t>
            </a:r>
            <a:endParaRPr lang="it-IT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7370064" y="178308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22"/>
          <p:cNvSpPr/>
          <p:nvPr/>
        </p:nvSpPr>
        <p:spPr>
          <a:xfrm>
            <a:off x="7461504" y="188110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 of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7461504" y="31181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690104" y="2386584"/>
            <a:ext cx="1508760" cy="0"/>
          </a:xfrm>
          <a:prstGeom prst="line">
            <a:avLst/>
          </a:prstGeom>
          <a:noFill/>
          <a:ln w="12700">
            <a:solidFill>
              <a:srgbClr val="E7E5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5"/>
          <p:cNvSpPr/>
          <p:nvPr/>
        </p:nvSpPr>
        <p:spPr>
          <a:xfrm>
            <a:off x="7571232" y="2585259"/>
            <a:ext cx="176479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it-IT" sz="1100" dirty="0"/>
              <a:t>Lavoro in isolamento su componenti condivise: problema quasi del tutto risolto nel corso del progetto</a:t>
            </a:r>
            <a:endParaRPr lang="it-IT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9720072" y="178308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6484" y="2228576"/>
            <a:ext cx="316017" cy="316017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820656" y="1880273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700" dirty="0"/>
          </a:p>
        </p:txBody>
      </p:sp>
      <p:sp>
        <p:nvSpPr>
          <p:cNvPr id="36" name="Text 29"/>
          <p:cNvSpPr/>
          <p:nvPr/>
        </p:nvSpPr>
        <p:spPr>
          <a:xfrm>
            <a:off x="9811512" y="31181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10076688" y="2377440"/>
            <a:ext cx="1508760" cy="0"/>
          </a:xfrm>
          <a:prstGeom prst="line">
            <a:avLst/>
          </a:prstGeom>
          <a:noFill/>
          <a:ln w="12700">
            <a:solidFill>
              <a:srgbClr val="E7E5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1"/>
          <p:cNvSpPr/>
          <p:nvPr/>
        </p:nvSpPr>
        <p:spPr>
          <a:xfrm>
            <a:off x="9912096" y="2563712"/>
            <a:ext cx="176479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it-IT" sz="1100" dirty="0" err="1"/>
              <a:t>Commit</a:t>
            </a:r>
            <a:r>
              <a:rPr lang="it-IT" sz="1100" dirty="0"/>
              <a:t> diretti sul </a:t>
            </a:r>
            <a:r>
              <a:rPr lang="it-IT" sz="1100" dirty="0" err="1"/>
              <a:t>branch</a:t>
            </a:r>
            <a:r>
              <a:rPr lang="it-IT" sz="1100" dirty="0"/>
              <a:t> principale e messaggi di </a:t>
            </a:r>
            <a:r>
              <a:rPr lang="it-IT" sz="1100" dirty="0" err="1"/>
              <a:t>commit</a:t>
            </a:r>
            <a:r>
              <a:rPr lang="it-IT" sz="1100" dirty="0"/>
              <a:t> generici: pratiche definitivamente abbandonate dal secondo sprint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2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2D486-3681-2162-1B99-523CCF8DD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E36BB4-8E03-8AFA-ABCF-5021C8CFA2A9}"/>
              </a:ext>
            </a:extLst>
          </p:cNvPr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6D28D9">
              <a:alpha val="2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8DB05D6-7451-5A81-16D4-4AD0FC15A390}"/>
              </a:ext>
            </a:extLst>
          </p:cNvPr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768B5B6-A8D3-1433-3B3D-66BDE2433289}"/>
              </a:ext>
            </a:extLst>
          </p:cNvPr>
          <p:cNvSpPr/>
          <p:nvPr/>
        </p:nvSpPr>
        <p:spPr>
          <a:xfrm>
            <a:off x="187452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8838E6D-1F86-8E92-611A-FF0FA22D316B}"/>
              </a:ext>
            </a:extLst>
          </p:cNvPr>
          <p:cNvSpPr/>
          <p:nvPr/>
        </p:nvSpPr>
        <p:spPr>
          <a:xfrm>
            <a:off x="187452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D1EA902-3CDF-DA34-C9B0-F96499AD5513}"/>
              </a:ext>
            </a:extLst>
          </p:cNvPr>
          <p:cNvSpPr/>
          <p:nvPr/>
        </p:nvSpPr>
        <p:spPr>
          <a:xfrm>
            <a:off x="4326128" y="2331720"/>
            <a:ext cx="33558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600" dirty="0">
                <a:solidFill>
                  <a:schemeClr val="bg1"/>
                </a:solidFill>
              </a:rPr>
              <a:t>DEMO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C3BC1C7-9C4B-70F1-DF33-87BBC35C05AD}"/>
              </a:ext>
            </a:extLst>
          </p:cNvPr>
          <p:cNvSpPr/>
          <p:nvPr/>
        </p:nvSpPr>
        <p:spPr>
          <a:xfrm>
            <a:off x="868680" y="3657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184BF5C-3BB5-E811-154D-E90864E2119C}"/>
              </a:ext>
            </a:extLst>
          </p:cNvPr>
          <p:cNvSpPr/>
          <p:nvPr/>
        </p:nvSpPr>
        <p:spPr>
          <a:xfrm>
            <a:off x="868680" y="5806440"/>
            <a:ext cx="201168" cy="45720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414093E-0EFF-39AC-A69D-FD48F40A4E53}"/>
              </a:ext>
            </a:extLst>
          </p:cNvPr>
          <p:cNvSpPr/>
          <p:nvPr/>
        </p:nvSpPr>
        <p:spPr>
          <a:xfrm>
            <a:off x="1179576" y="5440680"/>
            <a:ext cx="201168" cy="82296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D789D63-9828-D83B-611A-E13FAE5EBD57}"/>
              </a:ext>
            </a:extLst>
          </p:cNvPr>
          <p:cNvSpPr/>
          <p:nvPr/>
        </p:nvSpPr>
        <p:spPr>
          <a:xfrm>
            <a:off x="1490472" y="5715000"/>
            <a:ext cx="201168" cy="548640"/>
          </a:xfrm>
          <a:prstGeom prst="roundRect">
            <a:avLst>
              <a:gd name="adj" fmla="val 27273"/>
            </a:avLst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44597D7-7BFD-A8B3-D53F-50B8010E20B2}"/>
              </a:ext>
            </a:extLst>
          </p:cNvPr>
          <p:cNvSpPr/>
          <p:nvPr/>
        </p:nvSpPr>
        <p:spPr>
          <a:xfrm>
            <a:off x="1801368" y="5166360"/>
            <a:ext cx="201168" cy="1097280"/>
          </a:xfrm>
          <a:prstGeom prst="roundRect">
            <a:avLst>
              <a:gd name="adj" fmla="val 27273"/>
            </a:avLst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689840CA-5487-5C42-920A-5DB262FE6FC6}"/>
              </a:ext>
            </a:extLst>
          </p:cNvPr>
          <p:cNvSpPr/>
          <p:nvPr/>
        </p:nvSpPr>
        <p:spPr>
          <a:xfrm>
            <a:off x="2112264" y="5532120"/>
            <a:ext cx="201168" cy="73152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94E6E87-2670-9BBE-6C79-D1A666E30432}"/>
              </a:ext>
            </a:extLst>
          </p:cNvPr>
          <p:cNvSpPr/>
          <p:nvPr/>
        </p:nvSpPr>
        <p:spPr>
          <a:xfrm>
            <a:off x="2423160" y="4892040"/>
            <a:ext cx="201168" cy="137160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5F5FA36-1D86-4827-A745-F9F2BDFE9B16}"/>
              </a:ext>
            </a:extLst>
          </p:cNvPr>
          <p:cNvSpPr/>
          <p:nvPr/>
        </p:nvSpPr>
        <p:spPr>
          <a:xfrm>
            <a:off x="2734056" y="5349240"/>
            <a:ext cx="201168" cy="914400"/>
          </a:xfrm>
          <a:prstGeom prst="roundRect">
            <a:avLst>
              <a:gd name="adj" fmla="val 27273"/>
            </a:avLst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574322B7-1ED2-BA6F-EDA9-FC23658E0D25}"/>
              </a:ext>
            </a:extLst>
          </p:cNvPr>
          <p:cNvSpPr/>
          <p:nvPr/>
        </p:nvSpPr>
        <p:spPr>
          <a:xfrm>
            <a:off x="3044952" y="5623560"/>
            <a:ext cx="201168" cy="640080"/>
          </a:xfrm>
          <a:prstGeom prst="roundRect">
            <a:avLst>
              <a:gd name="adj" fmla="val 27273"/>
            </a:avLst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B075E51-1A5C-D06A-FAD8-135CE7EB0D2B}"/>
              </a:ext>
            </a:extLst>
          </p:cNvPr>
          <p:cNvSpPr/>
          <p:nvPr/>
        </p:nvSpPr>
        <p:spPr>
          <a:xfrm>
            <a:off x="3355848" y="5074920"/>
            <a:ext cx="201168" cy="118872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B3513426-1563-ADCD-F641-E73F37F551F0}"/>
              </a:ext>
            </a:extLst>
          </p:cNvPr>
          <p:cNvSpPr/>
          <p:nvPr/>
        </p:nvSpPr>
        <p:spPr>
          <a:xfrm>
            <a:off x="3666744" y="5760720"/>
            <a:ext cx="201168" cy="50292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F3C5DADB-143D-082D-D2B4-442143BC49D9}"/>
              </a:ext>
            </a:extLst>
          </p:cNvPr>
          <p:cNvSpPr/>
          <p:nvPr/>
        </p:nvSpPr>
        <p:spPr>
          <a:xfrm>
            <a:off x="3977640" y="5257800"/>
            <a:ext cx="201168" cy="1005840"/>
          </a:xfrm>
          <a:prstGeom prst="roundRect">
            <a:avLst>
              <a:gd name="adj" fmla="val 27273"/>
            </a:avLst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A535FCE1-6396-D2A2-9A47-309A2134966E}"/>
              </a:ext>
            </a:extLst>
          </p:cNvPr>
          <p:cNvSpPr/>
          <p:nvPr/>
        </p:nvSpPr>
        <p:spPr>
          <a:xfrm>
            <a:off x="4288536" y="5486400"/>
            <a:ext cx="201168" cy="777240"/>
          </a:xfrm>
          <a:prstGeom prst="roundRect">
            <a:avLst>
              <a:gd name="adj" fmla="val 27273"/>
            </a:avLst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715A5712-BC14-586F-2FBA-5E4C3855BEFF}"/>
              </a:ext>
            </a:extLst>
          </p:cNvPr>
          <p:cNvSpPr/>
          <p:nvPr/>
        </p:nvSpPr>
        <p:spPr>
          <a:xfrm>
            <a:off x="4599432" y="4983480"/>
            <a:ext cx="201168" cy="128016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CB9E6EE5-5DB9-D2D4-4B7D-7FC865DD885C}"/>
              </a:ext>
            </a:extLst>
          </p:cNvPr>
          <p:cNvSpPr/>
          <p:nvPr/>
        </p:nvSpPr>
        <p:spPr>
          <a:xfrm>
            <a:off x="4910328" y="5669280"/>
            <a:ext cx="201168" cy="59436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57B306F4-3073-349B-2A89-C0739656A260}"/>
              </a:ext>
            </a:extLst>
          </p:cNvPr>
          <p:cNvSpPr/>
          <p:nvPr/>
        </p:nvSpPr>
        <p:spPr>
          <a:xfrm>
            <a:off x="6766560" y="5989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9910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462</Words>
  <Application>Microsoft Office PowerPoint</Application>
  <PresentationFormat>Widescreen</PresentationFormat>
  <Paragraphs>112</Paragraphs>
  <Slides>9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Playlist Manager — Sprint 1</dc:title>
  <dc:subject>PptxGenJS Presentation</dc:subject>
  <dc:creator>Gruppo 6</dc:creator>
  <cp:lastModifiedBy>DAVIDE QUARANTA</cp:lastModifiedBy>
  <cp:revision>13</cp:revision>
  <dcterms:created xsi:type="dcterms:W3CDTF">2026-06-03T16:27:49Z</dcterms:created>
  <dcterms:modified xsi:type="dcterms:W3CDTF">2026-06-18T13:24:06Z</dcterms:modified>
</cp:coreProperties>
</file>