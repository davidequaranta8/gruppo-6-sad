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6" r:id="rId6"/>
    <p:sldId id="265" r:id="rId7"/>
    <p:sldId id="262" r:id="rId8"/>
    <p:sldId id="263" r:id="rId9"/>
    <p:sldId id="268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8" autoAdjust="0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4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5428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E211C-D668-D388-9E25-CB763E510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38ABC-8790-260B-ECDB-BC8D27799B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5D67A2-AC00-B633-5278-31C384016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36918-6BBE-BF66-39F9-0B9AA097C9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009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B2798-1EF6-62F5-2257-838E11E38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4DC19C-AE62-1999-3165-5B612DCD0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92DD84-1D70-0A41-154D-DC86B0B92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66B77-FC0B-B258-0FB9-EB75CAFF67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7906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93E24-191E-BED5-C071-CBB783832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C6846-0A3C-7383-3975-34BE1DC91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D0CD5-3E94-ACC5-9CAF-D98973A0B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6447C-1127-27C2-C6F2-332D4060E9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31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6D28D9">
              <a:alpha val="2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1874520" y="841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87452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1</a:t>
            </a:r>
            <a:endParaRPr lang="en-US" sz="8600" dirty="0"/>
          </a:p>
        </p:txBody>
      </p:sp>
      <p:sp>
        <p:nvSpPr>
          <p:cNvPr id="9" name="Text 6"/>
          <p:cNvSpPr/>
          <p:nvPr/>
        </p:nvSpPr>
        <p:spPr>
          <a:xfrm>
            <a:off x="868680" y="3657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201168" cy="457200"/>
          </a:xfrm>
          <a:prstGeom prst="roundRect">
            <a:avLst>
              <a:gd name="adj" fmla="val 27273"/>
            </a:avLst>
          </a:prstGeom>
          <a:solidFill>
            <a:srgbClr val="8B5CF6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1179576" y="5440680"/>
            <a:ext cx="201168" cy="822960"/>
          </a:xfrm>
          <a:prstGeom prst="roundRect">
            <a:avLst>
              <a:gd name="adj" fmla="val 27273"/>
            </a:avLst>
          </a:prstGeom>
          <a:solidFill>
            <a:srgbClr val="22D3EE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1490472" y="5715000"/>
            <a:ext cx="201168" cy="548640"/>
          </a:xfrm>
          <a:prstGeom prst="roundRect">
            <a:avLst>
              <a:gd name="adj" fmla="val 27273"/>
            </a:avLst>
          </a:prstGeom>
          <a:solidFill>
            <a:srgbClr val="10B981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1801368" y="5166360"/>
            <a:ext cx="201168" cy="1097280"/>
          </a:xfrm>
          <a:prstGeom prst="roundRect">
            <a:avLst>
              <a:gd name="adj" fmla="val 27273"/>
            </a:avLst>
          </a:prstGeom>
          <a:solidFill>
            <a:srgbClr val="F59E0B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2112264" y="5532120"/>
            <a:ext cx="201168" cy="731520"/>
          </a:xfrm>
          <a:prstGeom prst="roundRect">
            <a:avLst>
              <a:gd name="adj" fmla="val 27273"/>
            </a:avLst>
          </a:prstGeom>
          <a:solidFill>
            <a:srgbClr val="8B5CF6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2423160" y="4892040"/>
            <a:ext cx="201168" cy="1371600"/>
          </a:xfrm>
          <a:prstGeom prst="roundRect">
            <a:avLst>
              <a:gd name="adj" fmla="val 27273"/>
            </a:avLst>
          </a:prstGeom>
          <a:solidFill>
            <a:srgbClr val="22D3EE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2734056" y="5349240"/>
            <a:ext cx="201168" cy="914400"/>
          </a:xfrm>
          <a:prstGeom prst="roundRect">
            <a:avLst>
              <a:gd name="adj" fmla="val 27273"/>
            </a:avLst>
          </a:prstGeom>
          <a:solidFill>
            <a:srgbClr val="10B981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3044952" y="5623560"/>
            <a:ext cx="201168" cy="640080"/>
          </a:xfrm>
          <a:prstGeom prst="roundRect">
            <a:avLst>
              <a:gd name="adj" fmla="val 27273"/>
            </a:avLst>
          </a:prstGeom>
          <a:solidFill>
            <a:srgbClr val="F59E0B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5"/>
          <p:cNvSpPr/>
          <p:nvPr/>
        </p:nvSpPr>
        <p:spPr>
          <a:xfrm>
            <a:off x="3355848" y="5074920"/>
            <a:ext cx="201168" cy="1188720"/>
          </a:xfrm>
          <a:prstGeom prst="roundRect">
            <a:avLst>
              <a:gd name="adj" fmla="val 27273"/>
            </a:avLst>
          </a:prstGeom>
          <a:solidFill>
            <a:srgbClr val="8B5CF6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Shape 16"/>
          <p:cNvSpPr/>
          <p:nvPr/>
        </p:nvSpPr>
        <p:spPr>
          <a:xfrm>
            <a:off x="3666744" y="5760720"/>
            <a:ext cx="201168" cy="502920"/>
          </a:xfrm>
          <a:prstGeom prst="roundRect">
            <a:avLst>
              <a:gd name="adj" fmla="val 27273"/>
            </a:avLst>
          </a:prstGeom>
          <a:solidFill>
            <a:srgbClr val="22D3EE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7"/>
          <p:cNvSpPr/>
          <p:nvPr/>
        </p:nvSpPr>
        <p:spPr>
          <a:xfrm>
            <a:off x="3977640" y="5257800"/>
            <a:ext cx="201168" cy="1005840"/>
          </a:xfrm>
          <a:prstGeom prst="roundRect">
            <a:avLst>
              <a:gd name="adj" fmla="val 27273"/>
            </a:avLst>
          </a:prstGeom>
          <a:solidFill>
            <a:srgbClr val="10B981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8"/>
          <p:cNvSpPr/>
          <p:nvPr/>
        </p:nvSpPr>
        <p:spPr>
          <a:xfrm>
            <a:off x="4288536" y="5486400"/>
            <a:ext cx="201168" cy="777240"/>
          </a:xfrm>
          <a:prstGeom prst="roundRect">
            <a:avLst>
              <a:gd name="adj" fmla="val 27273"/>
            </a:avLst>
          </a:prstGeom>
          <a:solidFill>
            <a:srgbClr val="F59E0B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19"/>
          <p:cNvSpPr/>
          <p:nvPr/>
        </p:nvSpPr>
        <p:spPr>
          <a:xfrm>
            <a:off x="4599432" y="4983480"/>
            <a:ext cx="201168" cy="1280160"/>
          </a:xfrm>
          <a:prstGeom prst="roundRect">
            <a:avLst>
              <a:gd name="adj" fmla="val 27273"/>
            </a:avLst>
          </a:prstGeom>
          <a:solidFill>
            <a:srgbClr val="8B5CF6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0"/>
          <p:cNvSpPr/>
          <p:nvPr/>
        </p:nvSpPr>
        <p:spPr>
          <a:xfrm>
            <a:off x="4910328" y="5669280"/>
            <a:ext cx="201168" cy="594360"/>
          </a:xfrm>
          <a:prstGeom prst="roundRect">
            <a:avLst>
              <a:gd name="adj" fmla="val 27273"/>
            </a:avLst>
          </a:prstGeom>
          <a:solidFill>
            <a:srgbClr val="22D3EE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1"/>
          <p:cNvSpPr/>
          <p:nvPr/>
        </p:nvSpPr>
        <p:spPr>
          <a:xfrm>
            <a:off x="6766560" y="5989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12648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Gli artefatti rilasciati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858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1980590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1051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1st Sprint Release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554480" y="213969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sorgente + unit test (JUnit) sul repository GitHub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651760"/>
            <a:ext cx="6858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894" y="2940710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77063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backlog &amp; Product backlog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554480" y="309981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Mantenuti su Trello / Google Sheets, link nel repo GitHub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611880"/>
            <a:ext cx="6858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894" y="3900830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73075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Burndown chart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554480" y="405993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 esteso </a:t>
            </a:r>
            <a:r>
              <a:rPr lang="en-US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sull'intero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572000"/>
            <a:ext cx="6858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894" y="4860950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69087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Review report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554480" y="502005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 pianificati vs completati, velocity, issue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5532120"/>
            <a:ext cx="6858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894" y="5821070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565099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Retrospective report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1554480" y="598017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Diagramma starfish, focalizzato sul processo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772400" y="1691640"/>
            <a:ext cx="3776472" cy="4014216"/>
          </a:xfrm>
          <a:prstGeom prst="roundRect">
            <a:avLst>
              <a:gd name="adj" fmla="val 2421"/>
            </a:avLst>
          </a:prstGeom>
          <a:solidFill>
            <a:srgbClr val="15122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Text 23"/>
          <p:cNvSpPr/>
          <p:nvPr/>
        </p:nvSpPr>
        <p:spPr>
          <a:xfrm>
            <a:off x="8092440" y="192024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412480" y="2615185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412480" y="2911116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Codice, test e file con i link agli artefatti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8412480" y="3729922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Trello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8430768" y="403001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task board e tracciamento attività</a:t>
            </a:r>
            <a:endParaRPr lang="en-US" sz="1050" dirty="0"/>
          </a:p>
        </p:txBody>
      </p:sp>
      <p:sp>
        <p:nvSpPr>
          <p:cNvPr id="41" name="Text 31"/>
          <p:cNvSpPr/>
          <p:nvPr/>
        </p:nvSpPr>
        <p:spPr>
          <a:xfrm>
            <a:off x="8705088" y="404164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2" name="Text 32"/>
          <p:cNvSpPr/>
          <p:nvPr/>
        </p:nvSpPr>
        <p:spPr>
          <a:xfrm>
            <a:off x="8705088" y="431596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3" name="Shape 33"/>
          <p:cNvSpPr/>
          <p:nvPr/>
        </p:nvSpPr>
        <p:spPr>
          <a:xfrm>
            <a:off x="8092440" y="4901184"/>
            <a:ext cx="3136392" cy="0"/>
          </a:xfrm>
          <a:prstGeom prst="line">
            <a:avLst/>
          </a:prstGeom>
          <a:noFill/>
          <a:ln w="12700">
            <a:solidFill>
              <a:srgbClr val="3A34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34"/>
          <p:cNvSpPr/>
          <p:nvPr/>
        </p:nvSpPr>
        <p:spPr>
          <a:xfrm>
            <a:off x="8092440" y="5065776"/>
            <a:ext cx="31363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12648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Backlog aggiornato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89204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37" y="2035089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7537" y="1946841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Completate — Sprint 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47537" y="22808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marcate come Done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60120" y="2679192"/>
            <a:ext cx="42519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 · Aggiunta traccia  —  4 SP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 · Modifica traccia  —  4 SP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US3 · Elimina traccia  —  4 SP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US4 · Visualizza elenco tracce  —  3 SP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US25 · Persistenza dei dati  —  4 SP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742432" y="1627632"/>
            <a:ext cx="580644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889" y="2035089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49889" y="189280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 </a:t>
            </a:r>
            <a:r>
              <a:rPr lang="en-US" sz="1600" b="1" dirty="0" err="1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completare</a:t>
            </a:r>
            <a:r>
              <a:rPr lang="en-US" sz="16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b="1" dirty="0" err="1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nei</a:t>
            </a:r>
            <a:r>
              <a:rPr lang="en-US" sz="16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b="1" dirty="0" err="1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prossimi</a:t>
            </a:r>
            <a:r>
              <a:rPr lang="en-US" sz="16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sprint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062472" y="2496312"/>
            <a:ext cx="5166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playlist: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rinomina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aggiungi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rimuovi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Riproduzione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traccia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playlist: play, pausa, skip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riproduzione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sequenziale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shuffle, loop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Aggiornamento della UI in tempo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playback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delle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operazioni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aggiunta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rimozione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Home: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tracce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playlist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riprodotte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Creazione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playlist per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anno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Riordino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delle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tracce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playlist,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anche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riproduzione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playlist e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filtri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avanzati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914400" y="587044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12648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1 Backlog</a:t>
            </a:r>
            <a:endParaRPr lang="en-US" sz="3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923444"/>
              </p:ext>
            </p:extLst>
          </p:nvPr>
        </p:nvGraphicFramePr>
        <p:xfrm>
          <a:off x="640080" y="1841269"/>
          <a:ext cx="10908792" cy="2944368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5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ID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User Story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Task principali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SP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Stato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US1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Aggiunta traccia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Dialog + validazione, salvataggio via DAO, copia del file audio, calcolo durata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✔ Done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US2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 traccia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Dialog precompilato, aggiornamento della traccia su 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✔ Done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US3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 traccia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di conferma, rimozione dalla libreria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✔ Done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US4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Visualizza elenco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TableView con colonne, aggiornamento via pattern Observer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✔ Done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US25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Persistenza dei dati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+ DAO + Singleton ConcreteLibrary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✔ Done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640080" y="5669280"/>
            <a:ext cx="10908792" cy="749808"/>
          </a:xfrm>
          <a:prstGeom prst="roundRect">
            <a:avLst>
              <a:gd name="adj" fmla="val 12195"/>
            </a:avLst>
          </a:prstGeom>
          <a:solidFill>
            <a:srgbClr val="15122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914400" y="5669280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9B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Totale </a:t>
            </a:r>
            <a:r>
              <a:rPr lang="en-US" sz="1600" dirty="0" err="1">
                <a:solidFill>
                  <a:srgbClr val="B9B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impegnato</a:t>
            </a:r>
            <a:r>
              <a:rPr lang="en-US" sz="1600" dirty="0">
                <a:solidFill>
                  <a:srgbClr val="B9B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</a:t>
            </a: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 SP</a:t>
            </a:r>
            <a:r>
              <a:rPr lang="en-US" sz="1600" dirty="0">
                <a:solidFill>
                  <a:srgbClr val="B9B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   </a:t>
            </a:r>
            <a:r>
              <a:rPr lang="en-US" sz="1600" dirty="0" err="1">
                <a:solidFill>
                  <a:srgbClr val="B9B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Completati</a:t>
            </a:r>
            <a:r>
              <a:rPr lang="en-US" sz="1600" dirty="0">
                <a:solidFill>
                  <a:srgbClr val="B9B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</a:t>
            </a: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 SP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41066A-6A10-2979-58DA-1DA2A97A3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0F79AC3-B62B-6EF2-2650-100661B85DDB}"/>
              </a:ext>
            </a:extLst>
          </p:cNvPr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5DF711B-E990-6F57-0C76-4FCB58753C98}"/>
              </a:ext>
            </a:extLst>
          </p:cNvPr>
          <p:cNvSpPr/>
          <p:nvPr/>
        </p:nvSpPr>
        <p:spPr>
          <a:xfrm>
            <a:off x="579120" y="2743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 Sprint 1</a:t>
            </a:r>
            <a:endParaRPr lang="en-US" sz="3300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FBB8E75F-8745-BC69-F99C-3D5723C02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30" y="1285594"/>
            <a:ext cx="6790450" cy="3234116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D34A0B06-0B88-A0DB-BDB2-F4542B287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953" y="2902652"/>
            <a:ext cx="6019800" cy="3733800"/>
          </a:xfrm>
          <a:prstGeom prst="rect">
            <a:avLst/>
          </a:prstGeom>
        </p:spPr>
      </p:pic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1C18FC26-8426-4640-5C3B-689DB8A42ADE}"/>
              </a:ext>
            </a:extLst>
          </p:cNvPr>
          <p:cNvSpPr txBox="1"/>
          <p:nvPr/>
        </p:nvSpPr>
        <p:spPr>
          <a:xfrm>
            <a:off x="1910080" y="960120"/>
            <a:ext cx="1800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Singleton Pattern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4D97F600-0372-07B3-8A00-86D9EC8AA49D}"/>
              </a:ext>
            </a:extLst>
          </p:cNvPr>
          <p:cNvSpPr txBox="1"/>
          <p:nvPr/>
        </p:nvSpPr>
        <p:spPr>
          <a:xfrm>
            <a:off x="7843520" y="2607658"/>
            <a:ext cx="178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Observer Pattern</a:t>
            </a:r>
          </a:p>
        </p:txBody>
      </p:sp>
    </p:spTree>
    <p:extLst>
      <p:ext uri="{BB962C8B-B14F-4D97-AF65-F5344CB8AC3E}">
        <p14:creationId xmlns:p14="http://schemas.microsoft.com/office/powerpoint/2010/main" val="4181966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EA258-087F-DC53-C6CF-80F2B8C0F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1515C69-46E2-42F9-2C6E-A453418BFD6A}"/>
              </a:ext>
            </a:extLst>
          </p:cNvPr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ARTIFACT · PRODUCT BACKLOG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F7ACCB-7200-5A14-FF03-05CB8DA7736E}"/>
              </a:ext>
            </a:extLst>
          </p:cNvPr>
          <p:cNvSpPr/>
          <p:nvPr/>
        </p:nvSpPr>
        <p:spPr>
          <a:xfrm>
            <a:off x="612648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Burndown Chart</a:t>
            </a:r>
            <a:endParaRPr lang="en-US" sz="3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2942A9B-CF12-1545-1DAA-BECE52455949}"/>
              </a:ext>
            </a:extLst>
          </p:cNvPr>
          <p:cNvSpPr/>
          <p:nvPr/>
        </p:nvSpPr>
        <p:spPr>
          <a:xfrm>
            <a:off x="438912" y="1444752"/>
            <a:ext cx="5820572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E3301D20-F44B-BBC4-7A90-7EA4F10AB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37" y="2035089"/>
            <a:ext cx="245791" cy="245791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9E8C0848-50AB-CB59-58E9-11C16E8E5D54}"/>
              </a:ext>
            </a:extLst>
          </p:cNvPr>
          <p:cNvSpPr/>
          <p:nvPr/>
        </p:nvSpPr>
        <p:spPr>
          <a:xfrm>
            <a:off x="1536192" y="190195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4F82FB5-F2D4-AF49-4D05-164C0B81C0B5}"/>
              </a:ext>
            </a:extLst>
          </p:cNvPr>
          <p:cNvSpPr/>
          <p:nvPr/>
        </p:nvSpPr>
        <p:spPr>
          <a:xfrm>
            <a:off x="1536192" y="22128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7F1E744-E658-8DFF-7E07-7716A55DFD7B}"/>
              </a:ext>
            </a:extLst>
          </p:cNvPr>
          <p:cNvSpPr/>
          <p:nvPr/>
        </p:nvSpPr>
        <p:spPr>
          <a:xfrm>
            <a:off x="960120" y="2679192"/>
            <a:ext cx="42519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900"/>
              </a:spcAft>
              <a:buSzPct val="100000"/>
            </a:pPr>
            <a:endParaRPr lang="en-US" sz="12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C8C5E919-699C-5A65-377B-C0704FF16526}"/>
              </a:ext>
            </a:extLst>
          </p:cNvPr>
          <p:cNvSpPr/>
          <p:nvPr/>
        </p:nvSpPr>
        <p:spPr>
          <a:xfrm>
            <a:off x="6733252" y="1705772"/>
            <a:ext cx="4807250" cy="3661623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573485D-5765-5890-DF3A-865991930B0F}"/>
              </a:ext>
            </a:extLst>
          </p:cNvPr>
          <p:cNvSpPr/>
          <p:nvPr/>
        </p:nvSpPr>
        <p:spPr>
          <a:xfrm>
            <a:off x="6638544" y="2011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966EA353-F726-11CB-72DC-385179850F6B}"/>
              </a:ext>
            </a:extLst>
          </p:cNvPr>
          <p:cNvSpPr/>
          <p:nvPr/>
        </p:nvSpPr>
        <p:spPr>
          <a:xfrm>
            <a:off x="7471900" y="2070285"/>
            <a:ext cx="3672563" cy="29626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it-IT" sz="2000" dirty="0">
                <a:latin typeface="Trebuchet MS" panose="020B0603020202020204" pitchFamily="34" charset="0"/>
              </a:rPr>
              <a:t>Il </a:t>
            </a:r>
            <a:r>
              <a:rPr lang="it-IT" sz="2000" dirty="0" err="1">
                <a:latin typeface="Trebuchet MS" panose="020B0603020202020204" pitchFamily="34" charset="0"/>
              </a:rPr>
              <a:t>burndown</a:t>
            </a:r>
            <a:r>
              <a:rPr lang="it-IT" sz="2000" dirty="0">
                <a:latin typeface="Trebuchet MS" panose="020B0603020202020204" pitchFamily="34" charset="0"/>
              </a:rPr>
              <a:t> chart copre l'intero progetto di 3 sprint con un totale di </a:t>
            </a:r>
            <a:r>
              <a:rPr lang="it-IT" sz="2000" b="1" dirty="0">
                <a:latin typeface="Trebuchet MS" panose="020B0603020202020204" pitchFamily="34" charset="0"/>
              </a:rPr>
              <a:t>81 Story Points</a:t>
            </a:r>
            <a:r>
              <a:rPr lang="it-IT" sz="2000" dirty="0">
                <a:latin typeface="Trebuchet MS" panose="020B0603020202020204" pitchFamily="34" charset="0"/>
              </a:rPr>
              <a:t>.</a:t>
            </a:r>
          </a:p>
          <a:p>
            <a:endParaRPr lang="it-IT" sz="2000" dirty="0">
              <a:latin typeface="Trebuchet MS" panose="020B0603020202020204" pitchFamily="34" charset="0"/>
            </a:endParaRPr>
          </a:p>
          <a:p>
            <a:r>
              <a:rPr lang="it-IT" sz="2000" dirty="0">
                <a:latin typeface="Trebuchet MS" panose="020B0603020202020204" pitchFamily="34" charset="0"/>
              </a:rPr>
              <a:t>La linea reale si mantiene circa 2 SP sotto quella ideale quindi il team è </a:t>
            </a:r>
            <a:r>
              <a:rPr lang="it-IT" sz="2000" b="1" dirty="0">
                <a:latin typeface="Trebuchet MS" panose="020B0603020202020204" pitchFamily="34" charset="0"/>
              </a:rPr>
              <a:t>in anticipo</a:t>
            </a:r>
            <a:r>
              <a:rPr lang="it-IT" sz="2000" dirty="0">
                <a:latin typeface="Trebuchet MS" panose="020B0603020202020204" pitchFamily="34" charset="0"/>
              </a:rPr>
              <a:t> rispetto alla pianificazione.</a:t>
            </a:r>
          </a:p>
          <a:p>
            <a:endParaRPr lang="it-IT" sz="1050" dirty="0">
              <a:latin typeface="Trebuchet MS" panose="020B0603020202020204" pitchFamily="34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295EC094-E2EE-288B-49D3-D281FA1E0915}"/>
              </a:ext>
            </a:extLst>
          </p:cNvPr>
          <p:cNvSpPr/>
          <p:nvPr/>
        </p:nvSpPr>
        <p:spPr>
          <a:xfrm>
            <a:off x="914400" y="587044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86A9FE73-135D-128A-AF8E-3AE90B719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40" y="2020945"/>
            <a:ext cx="5197060" cy="312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908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12648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Review report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467612" y="1601863"/>
            <a:ext cx="352958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674620" y="1725515"/>
            <a:ext cx="29809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5000" b="1" dirty="0"/>
          </a:p>
        </p:txBody>
      </p:sp>
      <p:sp>
        <p:nvSpPr>
          <p:cNvPr id="6" name="Text 4"/>
          <p:cNvSpPr/>
          <p:nvPr/>
        </p:nvSpPr>
        <p:spPr>
          <a:xfrm>
            <a:off x="2370582" y="2463477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 pianificati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04004" y="1700784"/>
            <a:ext cx="29809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5000" dirty="0"/>
          </a:p>
        </p:txBody>
      </p:sp>
      <p:sp>
        <p:nvSpPr>
          <p:cNvPr id="10" name="Shape 8"/>
          <p:cNvSpPr/>
          <p:nvPr/>
        </p:nvSpPr>
        <p:spPr>
          <a:xfrm>
            <a:off x="7168896" y="1627632"/>
            <a:ext cx="352958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11" name="Text 9"/>
          <p:cNvSpPr/>
          <p:nvPr/>
        </p:nvSpPr>
        <p:spPr>
          <a:xfrm>
            <a:off x="8407908" y="1700784"/>
            <a:ext cx="29809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latin typeface="Trebuchet MS" pitchFamily="34" charset="0"/>
              </a:rPr>
              <a:t>21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8426196" y="2487168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Velocity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2748" y="35112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467612" y="3200400"/>
            <a:ext cx="9230868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7"/>
          <p:cNvSpPr/>
          <p:nvPr/>
        </p:nvSpPr>
        <p:spPr>
          <a:xfrm>
            <a:off x="5170101" y="3440638"/>
            <a:ext cx="17718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Backlog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4384548" y="4087235"/>
            <a:ext cx="4846320" cy="1499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user story rifiutata; storie completate marcate come Done, non eliminate.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</a:t>
            </a:r>
            <a:r>
              <a:rPr lang="en-US" sz="125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rifinire</a:t>
            </a: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nello</a:t>
            </a: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Sprint 2.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12648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Diagramma starfish — focus sul processo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320040" y="1783080"/>
            <a:ext cx="2148840" cy="3840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452" y="222857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5384" y="187106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1480" y="31181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05335" y="2377440"/>
            <a:ext cx="1508760" cy="0"/>
          </a:xfrm>
          <a:prstGeom prst="line">
            <a:avLst/>
          </a:prstGeom>
          <a:noFill/>
          <a:ln w="12700">
            <a:solidFill>
              <a:srgbClr val="E7E5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577319" y="2585259"/>
            <a:ext cx="176479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Tenere un breve registro delle decisioni architetturali (ADR) condiviso nel repo.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Concordare convenzioni di naming e formattazione comuni prima di scrivere codice.</a:t>
            </a:r>
          </a:p>
        </p:txBody>
      </p:sp>
      <p:sp>
        <p:nvSpPr>
          <p:cNvPr id="11" name="Shape 8"/>
          <p:cNvSpPr/>
          <p:nvPr/>
        </p:nvSpPr>
        <p:spPr>
          <a:xfrm>
            <a:off x="2670048" y="1783080"/>
            <a:ext cx="2148840" cy="3840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0"/>
          <p:cNvSpPr/>
          <p:nvPr/>
        </p:nvSpPr>
        <p:spPr>
          <a:xfrm>
            <a:off x="2761488" y="1880273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of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2761488" y="31181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127248" y="2394065"/>
            <a:ext cx="1508760" cy="0"/>
          </a:xfrm>
          <a:prstGeom prst="line">
            <a:avLst/>
          </a:prstGeom>
          <a:noFill/>
          <a:ln w="12700">
            <a:solidFill>
              <a:srgbClr val="E7E5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3"/>
          <p:cNvSpPr/>
          <p:nvPr/>
        </p:nvSpPr>
        <p:spPr>
          <a:xfrm>
            <a:off x="2855976" y="2589415"/>
            <a:ext cx="176479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Eseguire Code Review prima di procedere al merge sul </a:t>
            </a:r>
            <a:r>
              <a:rPr lang="it-IT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branch</a:t>
            </a: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principale. 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Organizzare un Daily Stand-up rapido e focalizzato sulle task in corso.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Incrementare i test di integrazione 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Mantenere una convenzione rigorosa per messaggi di </a:t>
            </a:r>
            <a:r>
              <a:rPr lang="it-IT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commit</a:t>
            </a: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che siano auto-esplicativi. </a:t>
            </a:r>
          </a:p>
        </p:txBody>
      </p:sp>
      <p:sp>
        <p:nvSpPr>
          <p:cNvPr id="18" name="Shape 14"/>
          <p:cNvSpPr/>
          <p:nvPr/>
        </p:nvSpPr>
        <p:spPr>
          <a:xfrm>
            <a:off x="5020056" y="1783080"/>
            <a:ext cx="2148840" cy="3840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468" y="2228576"/>
            <a:ext cx="316017" cy="31601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11496" y="188110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doing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5111496" y="31181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340096" y="2386584"/>
            <a:ext cx="1508760" cy="0"/>
          </a:xfrm>
          <a:prstGeom prst="line">
            <a:avLst/>
          </a:prstGeom>
          <a:noFill/>
          <a:ln w="12700">
            <a:solidFill>
              <a:srgbClr val="E7E5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9"/>
          <p:cNvSpPr/>
          <p:nvPr/>
        </p:nvSpPr>
        <p:spPr>
          <a:xfrm>
            <a:off x="5221224" y="2557760"/>
            <a:ext cx="176479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Rispettare la Definition of Done concordata prima di chiudere una task.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Mantenere una comunicazione frequente e diretta all'interno del team.</a:t>
            </a:r>
          </a:p>
        </p:txBody>
      </p:sp>
      <p:sp>
        <p:nvSpPr>
          <p:cNvPr id="25" name="Shape 20"/>
          <p:cNvSpPr/>
          <p:nvPr/>
        </p:nvSpPr>
        <p:spPr>
          <a:xfrm>
            <a:off x="7370064" y="1783080"/>
            <a:ext cx="2148840" cy="3840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22"/>
          <p:cNvSpPr/>
          <p:nvPr/>
        </p:nvSpPr>
        <p:spPr>
          <a:xfrm>
            <a:off x="7461504" y="188110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 of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7461504" y="31181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7690104" y="2386584"/>
            <a:ext cx="1508760" cy="0"/>
          </a:xfrm>
          <a:prstGeom prst="line">
            <a:avLst/>
          </a:prstGeom>
          <a:noFill/>
          <a:ln w="12700">
            <a:solidFill>
              <a:srgbClr val="E7E5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5"/>
          <p:cNvSpPr/>
          <p:nvPr/>
        </p:nvSpPr>
        <p:spPr>
          <a:xfrm>
            <a:off x="7571232" y="2585259"/>
            <a:ext cx="176479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Lavoro in isolamento sulle interfacce condivise senza concordare prima con i membri del gruppo. 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Scrittura di messaggi di </a:t>
            </a:r>
            <a:r>
              <a:rPr lang="it-IT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commit</a:t>
            </a: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generici,  o non informativi</a:t>
            </a:r>
          </a:p>
        </p:txBody>
      </p:sp>
      <p:sp>
        <p:nvSpPr>
          <p:cNvPr id="32" name="Shape 26"/>
          <p:cNvSpPr/>
          <p:nvPr/>
        </p:nvSpPr>
        <p:spPr>
          <a:xfrm>
            <a:off x="9720072" y="1783080"/>
            <a:ext cx="2148840" cy="3840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6484" y="2228576"/>
            <a:ext cx="316017" cy="316017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820656" y="1880273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</a:t>
            </a:r>
            <a:endParaRPr lang="en-US" sz="1700" dirty="0"/>
          </a:p>
        </p:txBody>
      </p:sp>
      <p:sp>
        <p:nvSpPr>
          <p:cNvPr id="36" name="Text 29"/>
          <p:cNvSpPr/>
          <p:nvPr/>
        </p:nvSpPr>
        <p:spPr>
          <a:xfrm>
            <a:off x="9811512" y="31181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10076688" y="2377440"/>
            <a:ext cx="1508760" cy="0"/>
          </a:xfrm>
          <a:prstGeom prst="line">
            <a:avLst/>
          </a:prstGeom>
          <a:noFill/>
          <a:ln w="12700">
            <a:solidFill>
              <a:srgbClr val="E7E5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1"/>
          <p:cNvSpPr/>
          <p:nvPr/>
        </p:nvSpPr>
        <p:spPr>
          <a:xfrm>
            <a:off x="9912096" y="2563712"/>
            <a:ext cx="176479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Effettuare </a:t>
            </a:r>
            <a:r>
              <a:rPr lang="it-IT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commit</a:t>
            </a: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direttamente sul </a:t>
            </a:r>
            <a:r>
              <a:rPr lang="it-IT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branch</a:t>
            </a: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principale senza pull </a:t>
            </a:r>
            <a:r>
              <a:rPr lang="it-IT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request</a:t>
            </a: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Iniziare task non ancora inserite e assegnate sulla board Trello.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Silenziare o ignorare le eccezioni a </a:t>
            </a:r>
            <a:r>
              <a:rPr lang="it-IT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runtime</a:t>
            </a: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nel codice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2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A2D486-3681-2162-1B99-523CCF8DD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E36BB4-8E03-8AFA-ABCF-5021C8CFA2A9}"/>
              </a:ext>
            </a:extLst>
          </p:cNvPr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6D28D9">
              <a:alpha val="2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8DB05D6-7451-5A81-16D4-4AD0FC15A390}"/>
              </a:ext>
            </a:extLst>
          </p:cNvPr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768B5B6-A8D3-1433-3B3D-66BDE2433289}"/>
              </a:ext>
            </a:extLst>
          </p:cNvPr>
          <p:cNvSpPr/>
          <p:nvPr/>
        </p:nvSpPr>
        <p:spPr>
          <a:xfrm>
            <a:off x="1874520" y="841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8838E6D-1F86-8E92-611A-FF0FA22D316B}"/>
              </a:ext>
            </a:extLst>
          </p:cNvPr>
          <p:cNvSpPr/>
          <p:nvPr/>
        </p:nvSpPr>
        <p:spPr>
          <a:xfrm>
            <a:off x="187452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D1EA902-3CDF-DA34-C9B0-F96499AD5513}"/>
              </a:ext>
            </a:extLst>
          </p:cNvPr>
          <p:cNvSpPr/>
          <p:nvPr/>
        </p:nvSpPr>
        <p:spPr>
          <a:xfrm>
            <a:off x="4326128" y="2331720"/>
            <a:ext cx="33558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600" dirty="0">
                <a:solidFill>
                  <a:schemeClr val="bg1"/>
                </a:solidFill>
              </a:rPr>
              <a:t>DEMO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C3BC1C7-9C4B-70F1-DF33-87BBC35C05AD}"/>
              </a:ext>
            </a:extLst>
          </p:cNvPr>
          <p:cNvSpPr/>
          <p:nvPr/>
        </p:nvSpPr>
        <p:spPr>
          <a:xfrm>
            <a:off x="868680" y="3657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184BF5C-3BB5-E811-154D-E90864E2119C}"/>
              </a:ext>
            </a:extLst>
          </p:cNvPr>
          <p:cNvSpPr/>
          <p:nvPr/>
        </p:nvSpPr>
        <p:spPr>
          <a:xfrm>
            <a:off x="868680" y="5806440"/>
            <a:ext cx="201168" cy="457200"/>
          </a:xfrm>
          <a:prstGeom prst="roundRect">
            <a:avLst>
              <a:gd name="adj" fmla="val 27273"/>
            </a:avLst>
          </a:prstGeom>
          <a:solidFill>
            <a:srgbClr val="8B5CF6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414093E-0EFF-39AC-A69D-FD48F40A4E53}"/>
              </a:ext>
            </a:extLst>
          </p:cNvPr>
          <p:cNvSpPr/>
          <p:nvPr/>
        </p:nvSpPr>
        <p:spPr>
          <a:xfrm>
            <a:off x="1179576" y="5440680"/>
            <a:ext cx="201168" cy="822960"/>
          </a:xfrm>
          <a:prstGeom prst="roundRect">
            <a:avLst>
              <a:gd name="adj" fmla="val 27273"/>
            </a:avLst>
          </a:prstGeom>
          <a:solidFill>
            <a:srgbClr val="22D3EE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3D789D63-9828-D83B-611A-E13FAE5EBD57}"/>
              </a:ext>
            </a:extLst>
          </p:cNvPr>
          <p:cNvSpPr/>
          <p:nvPr/>
        </p:nvSpPr>
        <p:spPr>
          <a:xfrm>
            <a:off x="1490472" y="5715000"/>
            <a:ext cx="201168" cy="548640"/>
          </a:xfrm>
          <a:prstGeom prst="roundRect">
            <a:avLst>
              <a:gd name="adj" fmla="val 27273"/>
            </a:avLst>
          </a:prstGeom>
          <a:solidFill>
            <a:srgbClr val="10B981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844597D7-7BFD-A8B3-D53F-50B8010E20B2}"/>
              </a:ext>
            </a:extLst>
          </p:cNvPr>
          <p:cNvSpPr/>
          <p:nvPr/>
        </p:nvSpPr>
        <p:spPr>
          <a:xfrm>
            <a:off x="1801368" y="5166360"/>
            <a:ext cx="201168" cy="1097280"/>
          </a:xfrm>
          <a:prstGeom prst="roundRect">
            <a:avLst>
              <a:gd name="adj" fmla="val 27273"/>
            </a:avLst>
          </a:prstGeom>
          <a:solidFill>
            <a:srgbClr val="F59E0B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689840CA-5487-5C42-920A-5DB262FE6FC6}"/>
              </a:ext>
            </a:extLst>
          </p:cNvPr>
          <p:cNvSpPr/>
          <p:nvPr/>
        </p:nvSpPr>
        <p:spPr>
          <a:xfrm>
            <a:off x="2112264" y="5532120"/>
            <a:ext cx="201168" cy="731520"/>
          </a:xfrm>
          <a:prstGeom prst="roundRect">
            <a:avLst>
              <a:gd name="adj" fmla="val 27273"/>
            </a:avLst>
          </a:prstGeom>
          <a:solidFill>
            <a:srgbClr val="8B5CF6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B94E6E87-2670-9BBE-6C79-D1A666E30432}"/>
              </a:ext>
            </a:extLst>
          </p:cNvPr>
          <p:cNvSpPr/>
          <p:nvPr/>
        </p:nvSpPr>
        <p:spPr>
          <a:xfrm>
            <a:off x="2423160" y="4892040"/>
            <a:ext cx="201168" cy="1371600"/>
          </a:xfrm>
          <a:prstGeom prst="roundRect">
            <a:avLst>
              <a:gd name="adj" fmla="val 27273"/>
            </a:avLst>
          </a:prstGeom>
          <a:solidFill>
            <a:srgbClr val="22D3EE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15F5FA36-1D86-4827-A745-F9F2BDFE9B16}"/>
              </a:ext>
            </a:extLst>
          </p:cNvPr>
          <p:cNvSpPr/>
          <p:nvPr/>
        </p:nvSpPr>
        <p:spPr>
          <a:xfrm>
            <a:off x="2734056" y="5349240"/>
            <a:ext cx="201168" cy="914400"/>
          </a:xfrm>
          <a:prstGeom prst="roundRect">
            <a:avLst>
              <a:gd name="adj" fmla="val 27273"/>
            </a:avLst>
          </a:prstGeom>
          <a:solidFill>
            <a:srgbClr val="10B981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574322B7-1ED2-BA6F-EDA9-FC23658E0D25}"/>
              </a:ext>
            </a:extLst>
          </p:cNvPr>
          <p:cNvSpPr/>
          <p:nvPr/>
        </p:nvSpPr>
        <p:spPr>
          <a:xfrm>
            <a:off x="3044952" y="5623560"/>
            <a:ext cx="201168" cy="640080"/>
          </a:xfrm>
          <a:prstGeom prst="roundRect">
            <a:avLst>
              <a:gd name="adj" fmla="val 27273"/>
            </a:avLst>
          </a:prstGeom>
          <a:solidFill>
            <a:srgbClr val="F59E0B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4B075E51-1A5C-D06A-FAD8-135CE7EB0D2B}"/>
              </a:ext>
            </a:extLst>
          </p:cNvPr>
          <p:cNvSpPr/>
          <p:nvPr/>
        </p:nvSpPr>
        <p:spPr>
          <a:xfrm>
            <a:off x="3355848" y="5074920"/>
            <a:ext cx="201168" cy="1188720"/>
          </a:xfrm>
          <a:prstGeom prst="roundRect">
            <a:avLst>
              <a:gd name="adj" fmla="val 27273"/>
            </a:avLst>
          </a:prstGeom>
          <a:solidFill>
            <a:srgbClr val="8B5CF6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B3513426-1563-ADCD-F641-E73F37F551F0}"/>
              </a:ext>
            </a:extLst>
          </p:cNvPr>
          <p:cNvSpPr/>
          <p:nvPr/>
        </p:nvSpPr>
        <p:spPr>
          <a:xfrm>
            <a:off x="3666744" y="5760720"/>
            <a:ext cx="201168" cy="502920"/>
          </a:xfrm>
          <a:prstGeom prst="roundRect">
            <a:avLst>
              <a:gd name="adj" fmla="val 27273"/>
            </a:avLst>
          </a:prstGeom>
          <a:solidFill>
            <a:srgbClr val="22D3EE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F3C5DADB-143D-082D-D2B4-442143BC49D9}"/>
              </a:ext>
            </a:extLst>
          </p:cNvPr>
          <p:cNvSpPr/>
          <p:nvPr/>
        </p:nvSpPr>
        <p:spPr>
          <a:xfrm>
            <a:off x="3977640" y="5257800"/>
            <a:ext cx="201168" cy="1005840"/>
          </a:xfrm>
          <a:prstGeom prst="roundRect">
            <a:avLst>
              <a:gd name="adj" fmla="val 27273"/>
            </a:avLst>
          </a:prstGeom>
          <a:solidFill>
            <a:srgbClr val="10B981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A535FCE1-6396-D2A2-9A47-309A2134966E}"/>
              </a:ext>
            </a:extLst>
          </p:cNvPr>
          <p:cNvSpPr/>
          <p:nvPr/>
        </p:nvSpPr>
        <p:spPr>
          <a:xfrm>
            <a:off x="4288536" y="5486400"/>
            <a:ext cx="201168" cy="777240"/>
          </a:xfrm>
          <a:prstGeom prst="roundRect">
            <a:avLst>
              <a:gd name="adj" fmla="val 27273"/>
            </a:avLst>
          </a:prstGeom>
          <a:solidFill>
            <a:srgbClr val="F59E0B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715A5712-BC14-586F-2FBA-5E4C3855BEFF}"/>
              </a:ext>
            </a:extLst>
          </p:cNvPr>
          <p:cNvSpPr/>
          <p:nvPr/>
        </p:nvSpPr>
        <p:spPr>
          <a:xfrm>
            <a:off x="4599432" y="4983480"/>
            <a:ext cx="201168" cy="1280160"/>
          </a:xfrm>
          <a:prstGeom prst="roundRect">
            <a:avLst>
              <a:gd name="adj" fmla="val 27273"/>
            </a:avLst>
          </a:prstGeom>
          <a:solidFill>
            <a:srgbClr val="8B5CF6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CB9E6EE5-5DB9-D2D4-4B7D-7FC865DD885C}"/>
              </a:ext>
            </a:extLst>
          </p:cNvPr>
          <p:cNvSpPr/>
          <p:nvPr/>
        </p:nvSpPr>
        <p:spPr>
          <a:xfrm>
            <a:off x="4910328" y="5669280"/>
            <a:ext cx="201168" cy="594360"/>
          </a:xfrm>
          <a:prstGeom prst="roundRect">
            <a:avLst>
              <a:gd name="adj" fmla="val 27273"/>
            </a:avLst>
          </a:prstGeom>
          <a:solidFill>
            <a:srgbClr val="22D3EE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57B306F4-3073-349B-2A89-C0739656A260}"/>
              </a:ext>
            </a:extLst>
          </p:cNvPr>
          <p:cNvSpPr/>
          <p:nvPr/>
        </p:nvSpPr>
        <p:spPr>
          <a:xfrm>
            <a:off x="6766560" y="5989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9910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555</Words>
  <Application>Microsoft Office PowerPoint</Application>
  <PresentationFormat>Widescreen</PresentationFormat>
  <Paragraphs>111</Paragraphs>
  <Slides>9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Playlist Manager — Sprint 1</dc:title>
  <dc:subject>PptxGenJS Presentation</dc:subject>
  <dc:creator>Gruppo 6</dc:creator>
  <cp:lastModifiedBy>DAVIDE QUARANTA</cp:lastModifiedBy>
  <cp:revision>6</cp:revision>
  <dcterms:created xsi:type="dcterms:W3CDTF">2026-06-03T16:27:49Z</dcterms:created>
  <dcterms:modified xsi:type="dcterms:W3CDTF">2026-06-04T15:09:54Z</dcterms:modified>
</cp:coreProperties>
</file>