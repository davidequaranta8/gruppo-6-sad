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581BD3-68AD-4BA8-9FD0-507528B7EF23}" type="doc">
      <dgm:prSet loTypeId="urn:microsoft.com/office/officeart/2008/layout/LinedList" loCatId="list" qsTypeId="urn:microsoft.com/office/officeart/2005/8/quickstyle/simple2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20F23AB4-E23C-4B3D-AB45-818BCC1AC45F}">
      <dgm:prSet/>
      <dgm:spPr/>
      <dgm:t>
        <a:bodyPr/>
        <a:lstStyle/>
        <a:p>
          <a:r>
            <a:rPr lang="it-IT" dirty="0"/>
            <a:t>l sistema adotta il pattern architetturale MVC (Model-View-Controller) con persistenza dei dati su </a:t>
          </a:r>
          <a:r>
            <a:rPr lang="it-IT" dirty="0" err="1"/>
            <a:t>PostgreSQL</a:t>
          </a:r>
          <a:r>
            <a:rPr lang="it-IT" dirty="0"/>
            <a:t>. L'interfaccia utente è definita tramite file FXML e la struttura complessiva del progetto è organizzata in tre package principali, ciascuno con responsabilità ben definite per garantire separazione delle competenze e manutenibilità del codice.</a:t>
          </a:r>
          <a:endParaRPr lang="en-US" dirty="0"/>
        </a:p>
      </dgm:t>
    </dgm:pt>
    <dgm:pt modelId="{3A3CC4B9-B0E0-4B54-8562-6316C77154A4}" type="parTrans" cxnId="{5B14C053-E309-40EA-A80E-FF22CFFCF9F3}">
      <dgm:prSet/>
      <dgm:spPr/>
      <dgm:t>
        <a:bodyPr/>
        <a:lstStyle/>
        <a:p>
          <a:endParaRPr lang="en-US"/>
        </a:p>
      </dgm:t>
    </dgm:pt>
    <dgm:pt modelId="{40888EF0-516E-4DD7-A306-A5E7ABAA53E5}" type="sibTrans" cxnId="{5B14C053-E309-40EA-A80E-FF22CFFCF9F3}">
      <dgm:prSet/>
      <dgm:spPr/>
      <dgm:t>
        <a:bodyPr/>
        <a:lstStyle/>
        <a:p>
          <a:endParaRPr lang="en-US"/>
        </a:p>
      </dgm:t>
    </dgm:pt>
    <dgm:pt modelId="{D076A88E-29AD-40A7-8A56-A6001B6A6827}">
      <dgm:prSet/>
      <dgm:spPr/>
      <dgm:t>
        <a:bodyPr/>
        <a:lstStyle/>
        <a:p>
          <a:r>
            <a:rPr lang="it-IT" dirty="0"/>
            <a:t>Controllers: Componenti responsabili di aggiornare e usare i model per aggiornare la </a:t>
          </a:r>
          <a:r>
            <a:rPr lang="it-IT" dirty="0" err="1"/>
            <a:t>view</a:t>
          </a:r>
          <a:r>
            <a:rPr lang="it-IT" dirty="0"/>
            <a:t>. Gestiscono gli eventi dell'utente e orchestrano la logica applicativa. I</a:t>
          </a:r>
          <a:endParaRPr lang="en-US" dirty="0"/>
        </a:p>
      </dgm:t>
    </dgm:pt>
    <dgm:pt modelId="{223C6CAA-D476-4B5F-9AA4-5B3E20543F4C}" type="parTrans" cxnId="{249BE151-F1E7-42CC-9B62-14A03A233B26}">
      <dgm:prSet/>
      <dgm:spPr/>
      <dgm:t>
        <a:bodyPr/>
        <a:lstStyle/>
        <a:p>
          <a:endParaRPr lang="en-US"/>
        </a:p>
      </dgm:t>
    </dgm:pt>
    <dgm:pt modelId="{7F004A15-F1A9-4658-A0C1-BCCDF7607891}" type="sibTrans" cxnId="{249BE151-F1E7-42CC-9B62-14A03A233B26}">
      <dgm:prSet/>
      <dgm:spPr/>
      <dgm:t>
        <a:bodyPr/>
        <a:lstStyle/>
        <a:p>
          <a:endParaRPr lang="en-US"/>
        </a:p>
      </dgm:t>
    </dgm:pt>
    <dgm:pt modelId="{21C937E3-2ACE-46E4-898A-AE8B1F77924B}">
      <dgm:prSet/>
      <dgm:spPr/>
      <dgm:t>
        <a:bodyPr/>
        <a:lstStyle/>
        <a:p>
          <a:r>
            <a:rPr lang="it-IT" dirty="0"/>
            <a:t>Models: Componenti responsabili del mantenimento dello stato dell'applicazione e dei dati del sistema. Indipendenti dalla UI, facilmente testabili.</a:t>
          </a:r>
          <a:endParaRPr lang="en-US" dirty="0"/>
        </a:p>
      </dgm:t>
    </dgm:pt>
    <dgm:pt modelId="{C3CB425B-7CA8-4134-8BC6-5B754F2C8442}" type="parTrans" cxnId="{6E9350D5-126D-43CF-84A2-3B5FAFBA2BFB}">
      <dgm:prSet/>
      <dgm:spPr/>
      <dgm:t>
        <a:bodyPr/>
        <a:lstStyle/>
        <a:p>
          <a:endParaRPr lang="en-US"/>
        </a:p>
      </dgm:t>
    </dgm:pt>
    <dgm:pt modelId="{F23965C8-F40A-43EE-9FFA-BCAFA6CF72D8}" type="sibTrans" cxnId="{6E9350D5-126D-43CF-84A2-3B5FAFBA2BFB}">
      <dgm:prSet/>
      <dgm:spPr/>
      <dgm:t>
        <a:bodyPr/>
        <a:lstStyle/>
        <a:p>
          <a:endParaRPr lang="en-US"/>
        </a:p>
      </dgm:t>
    </dgm:pt>
    <dgm:pt modelId="{D7798ED2-4641-4CAC-ADD8-0483A3A63611}">
      <dgm:prSet/>
      <dgm:spPr/>
      <dgm:t>
        <a:bodyPr/>
        <a:lstStyle/>
        <a:p>
          <a:r>
            <a:rPr lang="it-IT" dirty="0" err="1"/>
            <a:t>Views</a:t>
          </a:r>
          <a:r>
            <a:rPr lang="it-IT" dirty="0"/>
            <a:t>: Componenti FXML per l'interfaccia grafica. Definiscono la struttura visiva dell'applicazione separando completamente la presentazione dalla logica.</a:t>
          </a:r>
          <a:endParaRPr lang="en-US" dirty="0"/>
        </a:p>
      </dgm:t>
    </dgm:pt>
    <dgm:pt modelId="{85B90501-1B43-4772-9A58-7C2A72614D08}" type="parTrans" cxnId="{4112ECC0-BE66-44E5-8737-8FEB93D15630}">
      <dgm:prSet/>
      <dgm:spPr/>
      <dgm:t>
        <a:bodyPr/>
        <a:lstStyle/>
        <a:p>
          <a:endParaRPr lang="en-US"/>
        </a:p>
      </dgm:t>
    </dgm:pt>
    <dgm:pt modelId="{D7EA916F-A783-489B-9693-5EB0A4491C29}" type="sibTrans" cxnId="{4112ECC0-BE66-44E5-8737-8FEB93D15630}">
      <dgm:prSet/>
      <dgm:spPr/>
      <dgm:t>
        <a:bodyPr/>
        <a:lstStyle/>
        <a:p>
          <a:endParaRPr lang="en-US"/>
        </a:p>
      </dgm:t>
    </dgm:pt>
    <dgm:pt modelId="{CE7F64F9-BEBE-4D7D-B03F-2178B548F08B}" type="pres">
      <dgm:prSet presAssocID="{AF581BD3-68AD-4BA8-9FD0-507528B7EF23}" presName="vert0" presStyleCnt="0">
        <dgm:presLayoutVars>
          <dgm:dir/>
          <dgm:animOne val="branch"/>
          <dgm:animLvl val="lvl"/>
        </dgm:presLayoutVars>
      </dgm:prSet>
      <dgm:spPr/>
    </dgm:pt>
    <dgm:pt modelId="{79A8735F-2100-42B8-89FC-66368405CD2B}" type="pres">
      <dgm:prSet presAssocID="{20F23AB4-E23C-4B3D-AB45-818BCC1AC45F}" presName="thickLine" presStyleLbl="alignNode1" presStyleIdx="0" presStyleCnt="4"/>
      <dgm:spPr/>
    </dgm:pt>
    <dgm:pt modelId="{A550830B-D863-4749-A2D1-BAE7992A669F}" type="pres">
      <dgm:prSet presAssocID="{20F23AB4-E23C-4B3D-AB45-818BCC1AC45F}" presName="horz1" presStyleCnt="0"/>
      <dgm:spPr/>
    </dgm:pt>
    <dgm:pt modelId="{08123A0F-A776-4685-989E-1D7DCBEA338D}" type="pres">
      <dgm:prSet presAssocID="{20F23AB4-E23C-4B3D-AB45-818BCC1AC45F}" presName="tx1" presStyleLbl="revTx" presStyleIdx="0" presStyleCnt="4"/>
      <dgm:spPr/>
    </dgm:pt>
    <dgm:pt modelId="{9F960EA8-DB8A-4E07-ADD2-7688DECB69EA}" type="pres">
      <dgm:prSet presAssocID="{20F23AB4-E23C-4B3D-AB45-818BCC1AC45F}" presName="vert1" presStyleCnt="0"/>
      <dgm:spPr/>
    </dgm:pt>
    <dgm:pt modelId="{4BCF0F41-9E78-4434-800A-C236F5E895FF}" type="pres">
      <dgm:prSet presAssocID="{D076A88E-29AD-40A7-8A56-A6001B6A6827}" presName="thickLine" presStyleLbl="alignNode1" presStyleIdx="1" presStyleCnt="4"/>
      <dgm:spPr/>
    </dgm:pt>
    <dgm:pt modelId="{4775F16F-4CB5-41AA-B95D-48494B1A2900}" type="pres">
      <dgm:prSet presAssocID="{D076A88E-29AD-40A7-8A56-A6001B6A6827}" presName="horz1" presStyleCnt="0"/>
      <dgm:spPr/>
    </dgm:pt>
    <dgm:pt modelId="{AE88C96E-F5C5-40C6-9B84-C76139D52846}" type="pres">
      <dgm:prSet presAssocID="{D076A88E-29AD-40A7-8A56-A6001B6A6827}" presName="tx1" presStyleLbl="revTx" presStyleIdx="1" presStyleCnt="4"/>
      <dgm:spPr/>
    </dgm:pt>
    <dgm:pt modelId="{6011DEB2-71BC-4A03-9041-7F1B5CDAA6A7}" type="pres">
      <dgm:prSet presAssocID="{D076A88E-29AD-40A7-8A56-A6001B6A6827}" presName="vert1" presStyleCnt="0"/>
      <dgm:spPr/>
    </dgm:pt>
    <dgm:pt modelId="{DB96EB37-F730-44B5-97D3-EBF6E14E3790}" type="pres">
      <dgm:prSet presAssocID="{21C937E3-2ACE-46E4-898A-AE8B1F77924B}" presName="thickLine" presStyleLbl="alignNode1" presStyleIdx="2" presStyleCnt="4"/>
      <dgm:spPr/>
    </dgm:pt>
    <dgm:pt modelId="{1131B956-31A9-4A6D-9EDB-6AE99A8B81B5}" type="pres">
      <dgm:prSet presAssocID="{21C937E3-2ACE-46E4-898A-AE8B1F77924B}" presName="horz1" presStyleCnt="0"/>
      <dgm:spPr/>
    </dgm:pt>
    <dgm:pt modelId="{A8D977DC-21EA-4DBF-B3EE-C9B53F550320}" type="pres">
      <dgm:prSet presAssocID="{21C937E3-2ACE-46E4-898A-AE8B1F77924B}" presName="tx1" presStyleLbl="revTx" presStyleIdx="2" presStyleCnt="4"/>
      <dgm:spPr/>
    </dgm:pt>
    <dgm:pt modelId="{F0B289E5-CC47-4A15-BC4E-5665B1EB40D8}" type="pres">
      <dgm:prSet presAssocID="{21C937E3-2ACE-46E4-898A-AE8B1F77924B}" presName="vert1" presStyleCnt="0"/>
      <dgm:spPr/>
    </dgm:pt>
    <dgm:pt modelId="{A4FF8FBF-DD00-439F-924C-850E99A016A7}" type="pres">
      <dgm:prSet presAssocID="{D7798ED2-4641-4CAC-ADD8-0483A3A63611}" presName="thickLine" presStyleLbl="alignNode1" presStyleIdx="3" presStyleCnt="4"/>
      <dgm:spPr/>
    </dgm:pt>
    <dgm:pt modelId="{AABA88D7-DCCF-4B31-ACA0-3F7BA99B7359}" type="pres">
      <dgm:prSet presAssocID="{D7798ED2-4641-4CAC-ADD8-0483A3A63611}" presName="horz1" presStyleCnt="0"/>
      <dgm:spPr/>
    </dgm:pt>
    <dgm:pt modelId="{A628BEB2-2884-4509-B555-6B01CCC4660F}" type="pres">
      <dgm:prSet presAssocID="{D7798ED2-4641-4CAC-ADD8-0483A3A63611}" presName="tx1" presStyleLbl="revTx" presStyleIdx="3" presStyleCnt="4"/>
      <dgm:spPr/>
    </dgm:pt>
    <dgm:pt modelId="{0C93C888-ED49-489A-B269-4AE58ED2715B}" type="pres">
      <dgm:prSet presAssocID="{D7798ED2-4641-4CAC-ADD8-0483A3A63611}" presName="vert1" presStyleCnt="0"/>
      <dgm:spPr/>
    </dgm:pt>
  </dgm:ptLst>
  <dgm:cxnLst>
    <dgm:cxn modelId="{919E6C12-A983-4B9A-86DA-0B99728426F6}" type="presOf" srcId="{D7798ED2-4641-4CAC-ADD8-0483A3A63611}" destId="{A628BEB2-2884-4509-B555-6B01CCC4660F}" srcOrd="0" destOrd="0" presId="urn:microsoft.com/office/officeart/2008/layout/LinedList"/>
    <dgm:cxn modelId="{E95FA21A-E6E5-46F8-BC80-5500BEAF776C}" type="presOf" srcId="{AF581BD3-68AD-4BA8-9FD0-507528B7EF23}" destId="{CE7F64F9-BEBE-4D7D-B03F-2178B548F08B}" srcOrd="0" destOrd="0" presId="urn:microsoft.com/office/officeart/2008/layout/LinedList"/>
    <dgm:cxn modelId="{E530A664-6972-4808-82BA-E74295C1F27C}" type="presOf" srcId="{21C937E3-2ACE-46E4-898A-AE8B1F77924B}" destId="{A8D977DC-21EA-4DBF-B3EE-C9B53F550320}" srcOrd="0" destOrd="0" presId="urn:microsoft.com/office/officeart/2008/layout/LinedList"/>
    <dgm:cxn modelId="{249BE151-F1E7-42CC-9B62-14A03A233B26}" srcId="{AF581BD3-68AD-4BA8-9FD0-507528B7EF23}" destId="{D076A88E-29AD-40A7-8A56-A6001B6A6827}" srcOrd="1" destOrd="0" parTransId="{223C6CAA-D476-4B5F-9AA4-5B3E20543F4C}" sibTransId="{7F004A15-F1A9-4658-A0C1-BCCDF7607891}"/>
    <dgm:cxn modelId="{5B14C053-E309-40EA-A80E-FF22CFFCF9F3}" srcId="{AF581BD3-68AD-4BA8-9FD0-507528B7EF23}" destId="{20F23AB4-E23C-4B3D-AB45-818BCC1AC45F}" srcOrd="0" destOrd="0" parTransId="{3A3CC4B9-B0E0-4B54-8562-6316C77154A4}" sibTransId="{40888EF0-516E-4DD7-A306-A5E7ABAA53E5}"/>
    <dgm:cxn modelId="{4112ECC0-BE66-44E5-8737-8FEB93D15630}" srcId="{AF581BD3-68AD-4BA8-9FD0-507528B7EF23}" destId="{D7798ED2-4641-4CAC-ADD8-0483A3A63611}" srcOrd="3" destOrd="0" parTransId="{85B90501-1B43-4772-9A58-7C2A72614D08}" sibTransId="{D7EA916F-A783-489B-9693-5EB0A4491C29}"/>
    <dgm:cxn modelId="{6E9350D5-126D-43CF-84A2-3B5FAFBA2BFB}" srcId="{AF581BD3-68AD-4BA8-9FD0-507528B7EF23}" destId="{21C937E3-2ACE-46E4-898A-AE8B1F77924B}" srcOrd="2" destOrd="0" parTransId="{C3CB425B-7CA8-4134-8BC6-5B754F2C8442}" sibTransId="{F23965C8-F40A-43EE-9FFA-BCAFA6CF72D8}"/>
    <dgm:cxn modelId="{F7C250D9-8721-4CE0-80F9-6C9FD1967B5A}" type="presOf" srcId="{20F23AB4-E23C-4B3D-AB45-818BCC1AC45F}" destId="{08123A0F-A776-4685-989E-1D7DCBEA338D}" srcOrd="0" destOrd="0" presId="urn:microsoft.com/office/officeart/2008/layout/LinedList"/>
    <dgm:cxn modelId="{869ACDFE-D5D7-49FA-80ED-64674567A15F}" type="presOf" srcId="{D076A88E-29AD-40A7-8A56-A6001B6A6827}" destId="{AE88C96E-F5C5-40C6-9B84-C76139D52846}" srcOrd="0" destOrd="0" presId="urn:microsoft.com/office/officeart/2008/layout/LinedList"/>
    <dgm:cxn modelId="{6DFD682E-26ED-4048-A822-B0B61BA8573F}" type="presParOf" srcId="{CE7F64F9-BEBE-4D7D-B03F-2178B548F08B}" destId="{79A8735F-2100-42B8-89FC-66368405CD2B}" srcOrd="0" destOrd="0" presId="urn:microsoft.com/office/officeart/2008/layout/LinedList"/>
    <dgm:cxn modelId="{F8FE2F2E-BD7D-48C2-9273-E943E26C1D7F}" type="presParOf" srcId="{CE7F64F9-BEBE-4D7D-B03F-2178B548F08B}" destId="{A550830B-D863-4749-A2D1-BAE7992A669F}" srcOrd="1" destOrd="0" presId="urn:microsoft.com/office/officeart/2008/layout/LinedList"/>
    <dgm:cxn modelId="{B30AF7DA-E973-40FC-80A6-892595BA4509}" type="presParOf" srcId="{A550830B-D863-4749-A2D1-BAE7992A669F}" destId="{08123A0F-A776-4685-989E-1D7DCBEA338D}" srcOrd="0" destOrd="0" presId="urn:microsoft.com/office/officeart/2008/layout/LinedList"/>
    <dgm:cxn modelId="{BEC81A07-6E47-4BCA-A1DB-50AEAD1C98B6}" type="presParOf" srcId="{A550830B-D863-4749-A2D1-BAE7992A669F}" destId="{9F960EA8-DB8A-4E07-ADD2-7688DECB69EA}" srcOrd="1" destOrd="0" presId="urn:microsoft.com/office/officeart/2008/layout/LinedList"/>
    <dgm:cxn modelId="{9339719C-2B38-4F89-B1B8-FC03C44B5DA6}" type="presParOf" srcId="{CE7F64F9-BEBE-4D7D-B03F-2178B548F08B}" destId="{4BCF0F41-9E78-4434-800A-C236F5E895FF}" srcOrd="2" destOrd="0" presId="urn:microsoft.com/office/officeart/2008/layout/LinedList"/>
    <dgm:cxn modelId="{FD833B7E-46FB-4CCB-8B9B-CFCD5F0CBC4B}" type="presParOf" srcId="{CE7F64F9-BEBE-4D7D-B03F-2178B548F08B}" destId="{4775F16F-4CB5-41AA-B95D-48494B1A2900}" srcOrd="3" destOrd="0" presId="urn:microsoft.com/office/officeart/2008/layout/LinedList"/>
    <dgm:cxn modelId="{BFB3E2D6-7A0D-4BE7-AF88-E7BC943AC5ED}" type="presParOf" srcId="{4775F16F-4CB5-41AA-B95D-48494B1A2900}" destId="{AE88C96E-F5C5-40C6-9B84-C76139D52846}" srcOrd="0" destOrd="0" presId="urn:microsoft.com/office/officeart/2008/layout/LinedList"/>
    <dgm:cxn modelId="{7447E560-652A-4398-8BD2-53F60D3FFB9E}" type="presParOf" srcId="{4775F16F-4CB5-41AA-B95D-48494B1A2900}" destId="{6011DEB2-71BC-4A03-9041-7F1B5CDAA6A7}" srcOrd="1" destOrd="0" presId="urn:microsoft.com/office/officeart/2008/layout/LinedList"/>
    <dgm:cxn modelId="{B06C7EF0-6596-4287-B39B-006FE2FF49D5}" type="presParOf" srcId="{CE7F64F9-BEBE-4D7D-B03F-2178B548F08B}" destId="{DB96EB37-F730-44B5-97D3-EBF6E14E3790}" srcOrd="4" destOrd="0" presId="urn:microsoft.com/office/officeart/2008/layout/LinedList"/>
    <dgm:cxn modelId="{12E7E2C3-71C3-474F-A9A5-FECBDDDAC9E3}" type="presParOf" srcId="{CE7F64F9-BEBE-4D7D-B03F-2178B548F08B}" destId="{1131B956-31A9-4A6D-9EDB-6AE99A8B81B5}" srcOrd="5" destOrd="0" presId="urn:microsoft.com/office/officeart/2008/layout/LinedList"/>
    <dgm:cxn modelId="{D4B31871-A0B2-400E-8B12-538843407D9D}" type="presParOf" srcId="{1131B956-31A9-4A6D-9EDB-6AE99A8B81B5}" destId="{A8D977DC-21EA-4DBF-B3EE-C9B53F550320}" srcOrd="0" destOrd="0" presId="urn:microsoft.com/office/officeart/2008/layout/LinedList"/>
    <dgm:cxn modelId="{E60297F7-281E-4FB1-AC28-AA7A04A87A19}" type="presParOf" srcId="{1131B956-31A9-4A6D-9EDB-6AE99A8B81B5}" destId="{F0B289E5-CC47-4A15-BC4E-5665B1EB40D8}" srcOrd="1" destOrd="0" presId="urn:microsoft.com/office/officeart/2008/layout/LinedList"/>
    <dgm:cxn modelId="{73524D89-8F09-4D5B-908E-687A8DBB1D0B}" type="presParOf" srcId="{CE7F64F9-BEBE-4D7D-B03F-2178B548F08B}" destId="{A4FF8FBF-DD00-439F-924C-850E99A016A7}" srcOrd="6" destOrd="0" presId="urn:microsoft.com/office/officeart/2008/layout/LinedList"/>
    <dgm:cxn modelId="{E4C8E38C-35FD-4A9A-8E8A-831C49030C81}" type="presParOf" srcId="{CE7F64F9-BEBE-4D7D-B03F-2178B548F08B}" destId="{AABA88D7-DCCF-4B31-ACA0-3F7BA99B7359}" srcOrd="7" destOrd="0" presId="urn:microsoft.com/office/officeart/2008/layout/LinedList"/>
    <dgm:cxn modelId="{F9EEF7DC-3C7C-47DC-B5A0-5AC46DFB3E66}" type="presParOf" srcId="{AABA88D7-DCCF-4B31-ACA0-3F7BA99B7359}" destId="{A628BEB2-2884-4509-B555-6B01CCC4660F}" srcOrd="0" destOrd="0" presId="urn:microsoft.com/office/officeart/2008/layout/LinedList"/>
    <dgm:cxn modelId="{2AEBF1FE-9FFA-4E09-AC36-35DF8761DDFB}" type="presParOf" srcId="{AABA88D7-DCCF-4B31-ACA0-3F7BA99B7359}" destId="{0C93C888-ED49-489A-B269-4AE58ED271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8735F-2100-42B8-89FC-66368405CD2B}">
      <dsp:nvSpPr>
        <dsp:cNvPr id="0" name=""/>
        <dsp:cNvSpPr/>
      </dsp:nvSpPr>
      <dsp:spPr>
        <a:xfrm>
          <a:off x="0" y="0"/>
          <a:ext cx="5981277" cy="0"/>
        </a:xfrm>
        <a:prstGeom prst="line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8123A0F-A776-4685-989E-1D7DCBEA338D}">
      <dsp:nvSpPr>
        <dsp:cNvPr id="0" name=""/>
        <dsp:cNvSpPr/>
      </dsp:nvSpPr>
      <dsp:spPr>
        <a:xfrm>
          <a:off x="0" y="0"/>
          <a:ext cx="5981277" cy="922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l sistema adotta il pattern architetturale MVC (Model-View-Controller) con persistenza dei dati su </a:t>
          </a:r>
          <a:r>
            <a:rPr lang="it-IT" sz="1100" kern="1200" dirty="0" err="1"/>
            <a:t>PostgreSQL</a:t>
          </a:r>
          <a:r>
            <a:rPr lang="it-IT" sz="1100" kern="1200" dirty="0"/>
            <a:t>. L'interfaccia utente è definita tramite file FXML e la struttura complessiva del progetto è organizzata in tre package principali, ciascuno con responsabilità ben definite per garantire separazione delle competenze e manutenibilità del codice.</a:t>
          </a:r>
          <a:endParaRPr lang="en-US" sz="1100" kern="1200" dirty="0"/>
        </a:p>
      </dsp:txBody>
      <dsp:txXfrm>
        <a:off x="0" y="0"/>
        <a:ext cx="5981277" cy="922637"/>
      </dsp:txXfrm>
    </dsp:sp>
    <dsp:sp modelId="{4BCF0F41-9E78-4434-800A-C236F5E895FF}">
      <dsp:nvSpPr>
        <dsp:cNvPr id="0" name=""/>
        <dsp:cNvSpPr/>
      </dsp:nvSpPr>
      <dsp:spPr>
        <a:xfrm>
          <a:off x="0" y="922637"/>
          <a:ext cx="5981277" cy="0"/>
        </a:xfrm>
        <a:prstGeom prst="line">
          <a:avLst/>
        </a:prstGeom>
        <a:solidFill>
          <a:schemeClr val="accent2">
            <a:shade val="80000"/>
            <a:hueOff val="-151668"/>
            <a:satOff val="2837"/>
            <a:lumOff val="9040"/>
            <a:alphaOff val="0"/>
          </a:schemeClr>
        </a:solidFill>
        <a:ln w="19050" cap="flat" cmpd="sng" algn="ctr">
          <a:solidFill>
            <a:schemeClr val="accent2">
              <a:shade val="80000"/>
              <a:hueOff val="-151668"/>
              <a:satOff val="2837"/>
              <a:lumOff val="90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88C96E-F5C5-40C6-9B84-C76139D52846}">
      <dsp:nvSpPr>
        <dsp:cNvPr id="0" name=""/>
        <dsp:cNvSpPr/>
      </dsp:nvSpPr>
      <dsp:spPr>
        <a:xfrm>
          <a:off x="0" y="922637"/>
          <a:ext cx="5981277" cy="922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Controllers: Componenti responsabili di aggiornare e usare i model per aggiornare la </a:t>
          </a:r>
          <a:r>
            <a:rPr lang="it-IT" sz="1100" kern="1200" dirty="0" err="1"/>
            <a:t>view</a:t>
          </a:r>
          <a:r>
            <a:rPr lang="it-IT" sz="1100" kern="1200" dirty="0"/>
            <a:t>. Gestiscono gli eventi dell'utente e orchestrano la logica applicativa. I</a:t>
          </a:r>
          <a:endParaRPr lang="en-US" sz="1100" kern="1200" dirty="0"/>
        </a:p>
      </dsp:txBody>
      <dsp:txXfrm>
        <a:off x="0" y="922637"/>
        <a:ext cx="5981277" cy="922637"/>
      </dsp:txXfrm>
    </dsp:sp>
    <dsp:sp modelId="{DB96EB37-F730-44B5-97D3-EBF6E14E3790}">
      <dsp:nvSpPr>
        <dsp:cNvPr id="0" name=""/>
        <dsp:cNvSpPr/>
      </dsp:nvSpPr>
      <dsp:spPr>
        <a:xfrm>
          <a:off x="0" y="1845275"/>
          <a:ext cx="5981277" cy="0"/>
        </a:xfrm>
        <a:prstGeom prst="line">
          <a:avLst/>
        </a:prstGeom>
        <a:solidFill>
          <a:schemeClr val="accent2">
            <a:shade val="80000"/>
            <a:hueOff val="-303336"/>
            <a:satOff val="5673"/>
            <a:lumOff val="18081"/>
            <a:alphaOff val="0"/>
          </a:schemeClr>
        </a:solidFill>
        <a:ln w="19050" cap="flat" cmpd="sng" algn="ctr">
          <a:solidFill>
            <a:schemeClr val="accent2">
              <a:shade val="80000"/>
              <a:hueOff val="-303336"/>
              <a:satOff val="5673"/>
              <a:lumOff val="180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D977DC-21EA-4DBF-B3EE-C9B53F550320}">
      <dsp:nvSpPr>
        <dsp:cNvPr id="0" name=""/>
        <dsp:cNvSpPr/>
      </dsp:nvSpPr>
      <dsp:spPr>
        <a:xfrm>
          <a:off x="0" y="1845275"/>
          <a:ext cx="5981277" cy="922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Models: Componenti responsabili del mantenimento dello stato dell'applicazione e dei dati del sistema. Indipendenti dalla UI, facilmente testabili.</a:t>
          </a:r>
          <a:endParaRPr lang="en-US" sz="1100" kern="1200" dirty="0"/>
        </a:p>
      </dsp:txBody>
      <dsp:txXfrm>
        <a:off x="0" y="1845275"/>
        <a:ext cx="5981277" cy="922637"/>
      </dsp:txXfrm>
    </dsp:sp>
    <dsp:sp modelId="{A4FF8FBF-DD00-439F-924C-850E99A016A7}">
      <dsp:nvSpPr>
        <dsp:cNvPr id="0" name=""/>
        <dsp:cNvSpPr/>
      </dsp:nvSpPr>
      <dsp:spPr>
        <a:xfrm>
          <a:off x="0" y="2767913"/>
          <a:ext cx="5981277" cy="0"/>
        </a:xfrm>
        <a:prstGeom prst="line">
          <a:avLst/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 w="19050" cap="flat" cmpd="sng" algn="ctr">
          <a:solidFill>
            <a:schemeClr val="accent2">
              <a:shade val="80000"/>
              <a:hueOff val="-455004"/>
              <a:satOff val="8510"/>
              <a:lumOff val="27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28BEB2-2884-4509-B555-6B01CCC4660F}">
      <dsp:nvSpPr>
        <dsp:cNvPr id="0" name=""/>
        <dsp:cNvSpPr/>
      </dsp:nvSpPr>
      <dsp:spPr>
        <a:xfrm>
          <a:off x="0" y="2767913"/>
          <a:ext cx="5981277" cy="922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 err="1"/>
            <a:t>Views</a:t>
          </a:r>
          <a:r>
            <a:rPr lang="it-IT" sz="1100" kern="1200" dirty="0"/>
            <a:t>: Componenti FXML per l'interfaccia grafica. Definiscono la struttura visiva dell'applicazione separando completamente la presentazione dalla logica.</a:t>
          </a:r>
          <a:endParaRPr lang="en-US" sz="1100" kern="1200" dirty="0"/>
        </a:p>
      </dsp:txBody>
      <dsp:txXfrm>
        <a:off x="0" y="2767913"/>
        <a:ext cx="5981277" cy="922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987034-EA44-78D9-F20B-7D4912D56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EE36599-2D92-FDF3-7B08-7450965A3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51200C-92A5-655B-ACC9-39684551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CDCFBD-EAC7-4A42-01E4-50796766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BD080D-AB7B-8C1D-DCF7-80051A7E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460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0A0426-CD3B-8E27-B579-2D25CB86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2CD218-E41E-9E29-DF33-ACAA687C2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934DE2-A0A8-C691-8007-537CB0A8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1A4C84-2D0C-F3DB-E36F-EF1905B7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7287E4-DC25-4622-604D-87F02531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146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FA8295-FB7B-690E-1681-635C0E00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A777AF6-C8F8-A0F7-9AC0-ADE19DE2B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E6FE62-BC7C-0F3D-3E57-3D6AE0BA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BE7685-C727-2624-F3A3-90EFAB5A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98D63D-CB61-18F9-562A-B48ECE1D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66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625094-10D8-89B5-2E8D-96B9DDEA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16091D-C8E8-5CD2-D44A-E22478C16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88AF87-3513-69A9-3219-026A9C157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68D85B-C26A-1451-D2D1-B3FE8354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D37007A-9992-5D98-A939-EB9632ED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79AB7E4-8BC2-9C51-4E5C-4242C980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77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BB0B60-7E26-15EB-B5B5-F7F4CFC3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0E1FAA1-F13B-0B47-B0D2-D6F01363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B26B4B-D8CC-FB23-89D1-28E61A18C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B53D056-02F9-0ECA-CC21-01C7EDADD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FEAF10B-E71F-225C-B45B-F869C08ED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14FCDC6-3236-91D5-9FE4-86E3D903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AA9DE28-851C-5A8E-3AF1-23979B79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0CC4859-136B-2425-4E4E-65C433F9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879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896DAA-C33C-B14E-5943-12BCCAB2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7C904F-B7BB-92C3-C5C7-DDC07BBF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F0B5478-4F89-074A-D222-A2FBA78D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F779D9-4DE6-6E89-9CBF-7456122C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221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24075F9-5FB9-7D0A-65BC-80C96068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E2A0084-B6FF-8C06-C4D8-32C3BAFF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A6DC53-BA26-747A-4B75-E9D44B64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946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531739-03E8-51A1-CFCE-F6DE49DB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1D1F01-34E0-FC98-01DF-082A1500F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5788284-F64C-EA60-22B1-00457FD62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06E97D0-3CCB-EE8D-D558-E548E1CB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919929-100F-8171-8EE2-0E40FF5F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17CB775-2AA3-735C-6905-94A42071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660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BA5890-91B3-63FF-7E6E-2B0E4266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B168C6C-BD87-661D-70D0-D9B9AB7C7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8A6F6A-6D46-8A38-BD91-DF8FE2297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35FB0B-590F-7943-9D05-FCFB533C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593B810-54C6-F465-3F1B-3C171DA8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160D69-5831-F96B-D876-AE0872E9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549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F8ADF2-551C-A13C-BF0B-29611D7F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061C0A-3053-875D-518E-C89F6DB5A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F164D9-C240-BD5A-A135-09830E1C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E98094-826E-60F3-BE4A-B5884EBF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E87093-146D-F267-2AB7-A5895C77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757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91F2FCD-3703-53D9-7DE9-13AED444A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089EC0-2F5D-11C0-21E7-38A3AB746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44C719-3657-6DDB-65B7-38F1DBCA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27396B-2D44-430B-5306-FAE5ACDE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4D4C13-A04D-AFD1-3078-6047A21F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067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AD276E2-733B-3AD6-DC88-E82ECD92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24E301-1196-EED6-830D-8CF59B569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74F3EC-2C8C-05A0-5B26-7C5279477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41984-6E2D-4CF7-89F6-A6AAC59D4A75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919316-1EF2-EEDD-69CF-7223AE56E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419A85-8C77-3CB4-16C5-D0E8BC526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951D2-017E-4E53-85D4-D843340441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942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CDF4F5-D251-A203-7A10-80DFF7621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6281928" cy="4135437"/>
          </a:xfrm>
        </p:spPr>
        <p:txBody>
          <a:bodyPr>
            <a:normAutofit/>
          </a:bodyPr>
          <a:lstStyle/>
          <a:p>
            <a:pPr algn="l"/>
            <a:r>
              <a:rPr lang="it-IT" sz="6600" b="1"/>
              <a:t>Pre-Game &amp; Architettura del Sistema</a:t>
            </a:r>
            <a:br>
              <a:rPr lang="it-IT" sz="6600" b="1"/>
            </a:br>
            <a:endParaRPr lang="it-IT" sz="66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sX0" fmla="*/ 0 w 3647661"/>
              <a:gd name="csY0" fmla="*/ 0 h 4436126"/>
              <a:gd name="csX1" fmla="*/ 498514 w 3647661"/>
              <a:gd name="csY1" fmla="*/ 0 h 4436126"/>
              <a:gd name="csX2" fmla="*/ 1069981 w 3647661"/>
              <a:gd name="csY2" fmla="*/ 0 h 4436126"/>
              <a:gd name="csX3" fmla="*/ 1714401 w 3647661"/>
              <a:gd name="csY3" fmla="*/ 0 h 4436126"/>
              <a:gd name="csX4" fmla="*/ 2285868 w 3647661"/>
              <a:gd name="csY4" fmla="*/ 0 h 4436126"/>
              <a:gd name="csX5" fmla="*/ 2784381 w 3647661"/>
              <a:gd name="csY5" fmla="*/ 0 h 4436126"/>
              <a:gd name="csX6" fmla="*/ 3647661 w 3647661"/>
              <a:gd name="csY6" fmla="*/ 0 h 4436126"/>
              <a:gd name="csX7" fmla="*/ 3647661 w 3647661"/>
              <a:gd name="csY7" fmla="*/ 633732 h 4436126"/>
              <a:gd name="csX8" fmla="*/ 3647661 w 3647661"/>
              <a:gd name="csY8" fmla="*/ 1267465 h 4436126"/>
              <a:gd name="csX9" fmla="*/ 3647661 w 3647661"/>
              <a:gd name="csY9" fmla="*/ 1768113 h 4436126"/>
              <a:gd name="csX10" fmla="*/ 3647661 w 3647661"/>
              <a:gd name="csY10" fmla="*/ 2446207 h 4436126"/>
              <a:gd name="csX11" fmla="*/ 3647661 w 3647661"/>
              <a:gd name="csY11" fmla="*/ 2946855 h 4436126"/>
              <a:gd name="csX12" fmla="*/ 3647661 w 3647661"/>
              <a:gd name="csY12" fmla="*/ 3580587 h 4436126"/>
              <a:gd name="csX13" fmla="*/ 3647661 w 3647661"/>
              <a:gd name="csY13" fmla="*/ 4436126 h 4436126"/>
              <a:gd name="csX14" fmla="*/ 3039718 w 3647661"/>
              <a:gd name="csY14" fmla="*/ 4436126 h 4436126"/>
              <a:gd name="csX15" fmla="*/ 2431774 w 3647661"/>
              <a:gd name="csY15" fmla="*/ 4436126 h 4436126"/>
              <a:gd name="csX16" fmla="*/ 1823831 w 3647661"/>
              <a:gd name="csY16" fmla="*/ 4436126 h 4436126"/>
              <a:gd name="csX17" fmla="*/ 1288840 w 3647661"/>
              <a:gd name="csY17" fmla="*/ 4436126 h 4436126"/>
              <a:gd name="csX18" fmla="*/ 607943 w 3647661"/>
              <a:gd name="csY18" fmla="*/ 4436126 h 4436126"/>
              <a:gd name="csX19" fmla="*/ 0 w 3647661"/>
              <a:gd name="csY19" fmla="*/ 4436126 h 4436126"/>
              <a:gd name="csX20" fmla="*/ 0 w 3647661"/>
              <a:gd name="csY20" fmla="*/ 3758032 h 4436126"/>
              <a:gd name="csX21" fmla="*/ 0 w 3647661"/>
              <a:gd name="csY21" fmla="*/ 3035578 h 4436126"/>
              <a:gd name="csX22" fmla="*/ 0 w 3647661"/>
              <a:gd name="csY22" fmla="*/ 2401845 h 4436126"/>
              <a:gd name="csX23" fmla="*/ 0 w 3647661"/>
              <a:gd name="csY23" fmla="*/ 1768113 h 4436126"/>
              <a:gd name="csX24" fmla="*/ 0 w 3647661"/>
              <a:gd name="csY24" fmla="*/ 1178742 h 4436126"/>
              <a:gd name="csX25" fmla="*/ 0 w 3647661"/>
              <a:gd name="csY25" fmla="*/ 589371 h 4436126"/>
              <a:gd name="csX26" fmla="*/ 0 w 3647661"/>
              <a:gd name="csY26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FFC9139-E862-AD12-3371-1EA95B387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114" y="1232452"/>
            <a:ext cx="3200400" cy="3850919"/>
          </a:xfrm>
        </p:spPr>
        <p:txBody>
          <a:bodyPr anchor="b">
            <a:normAutofit/>
          </a:bodyPr>
          <a:lstStyle/>
          <a:p>
            <a:pPr algn="l"/>
            <a:r>
              <a:rPr lang="it-IT" sz="2200" dirty="0">
                <a:solidFill>
                  <a:srgbClr val="FFFFFF"/>
                </a:solidFill>
              </a:rPr>
              <a:t>Questo documento presenta le attività di Pre-Game quindi, l'architettura software adottata, lo </a:t>
            </a:r>
            <a:r>
              <a:rPr lang="it-IT" sz="2200" dirty="0" err="1">
                <a:solidFill>
                  <a:srgbClr val="FFFFFF"/>
                </a:solidFill>
              </a:rPr>
              <a:t>stack</a:t>
            </a:r>
            <a:r>
              <a:rPr lang="it-IT" sz="2200" dirty="0">
                <a:solidFill>
                  <a:srgbClr val="FFFFFF"/>
                </a:solidFill>
              </a:rPr>
              <a:t> tecnologico, lo schema del database e la pianificazione del primo sprint con la stima dell'</a:t>
            </a:r>
            <a:r>
              <a:rPr lang="it-IT" sz="2200" dirty="0" err="1">
                <a:solidFill>
                  <a:srgbClr val="FFFFFF"/>
                </a:solidFill>
              </a:rPr>
              <a:t>effort</a:t>
            </a:r>
            <a:r>
              <a:rPr lang="it-IT" sz="2200" dirty="0">
                <a:solidFill>
                  <a:srgbClr val="FFFFFF"/>
                </a:solidFill>
              </a:rPr>
              <a:t> tramite il metodo Use Case Point.</a:t>
            </a:r>
          </a:p>
          <a:p>
            <a:pPr algn="l"/>
            <a:endParaRPr lang="it-IT" sz="2200" dirty="0">
              <a:solidFill>
                <a:srgbClr val="FFFFFF"/>
              </a:solidFill>
            </a:endParaRPr>
          </a:p>
        </p:txBody>
      </p:sp>
      <p:sp>
        <p:nvSpPr>
          <p:cNvPr id="49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sX0" fmla="*/ 0 w 6281928"/>
              <a:gd name="csY0" fmla="*/ 0 h 18288"/>
              <a:gd name="csX1" fmla="*/ 572353 w 6281928"/>
              <a:gd name="csY1" fmla="*/ 0 h 18288"/>
              <a:gd name="csX2" fmla="*/ 1207526 w 6281928"/>
              <a:gd name="csY2" fmla="*/ 0 h 18288"/>
              <a:gd name="csX3" fmla="*/ 1779880 w 6281928"/>
              <a:gd name="csY3" fmla="*/ 0 h 18288"/>
              <a:gd name="csX4" fmla="*/ 2540691 w 6281928"/>
              <a:gd name="csY4" fmla="*/ 0 h 18288"/>
              <a:gd name="csX5" fmla="*/ 3238683 w 6281928"/>
              <a:gd name="csY5" fmla="*/ 0 h 18288"/>
              <a:gd name="csX6" fmla="*/ 3936675 w 6281928"/>
              <a:gd name="csY6" fmla="*/ 0 h 18288"/>
              <a:gd name="csX7" fmla="*/ 4760305 w 6281928"/>
              <a:gd name="csY7" fmla="*/ 0 h 18288"/>
              <a:gd name="csX8" fmla="*/ 5521117 w 6281928"/>
              <a:gd name="csY8" fmla="*/ 0 h 18288"/>
              <a:gd name="csX9" fmla="*/ 6281928 w 6281928"/>
              <a:gd name="csY9" fmla="*/ 0 h 18288"/>
              <a:gd name="csX10" fmla="*/ 6281928 w 6281928"/>
              <a:gd name="csY10" fmla="*/ 18288 h 18288"/>
              <a:gd name="csX11" fmla="*/ 5772394 w 6281928"/>
              <a:gd name="csY11" fmla="*/ 18288 h 18288"/>
              <a:gd name="csX12" fmla="*/ 5200040 w 6281928"/>
              <a:gd name="csY12" fmla="*/ 18288 h 18288"/>
              <a:gd name="csX13" fmla="*/ 4439229 w 6281928"/>
              <a:gd name="csY13" fmla="*/ 18288 h 18288"/>
              <a:gd name="csX14" fmla="*/ 3615599 w 6281928"/>
              <a:gd name="csY14" fmla="*/ 18288 h 18288"/>
              <a:gd name="csX15" fmla="*/ 2980426 w 6281928"/>
              <a:gd name="csY15" fmla="*/ 18288 h 18288"/>
              <a:gd name="csX16" fmla="*/ 2156795 w 6281928"/>
              <a:gd name="csY16" fmla="*/ 18288 h 18288"/>
              <a:gd name="csX17" fmla="*/ 1584442 w 6281928"/>
              <a:gd name="csY17" fmla="*/ 18288 h 18288"/>
              <a:gd name="csX18" fmla="*/ 1074908 w 6281928"/>
              <a:gd name="csY18" fmla="*/ 18288 h 18288"/>
              <a:gd name="csX19" fmla="*/ 0 w 6281928"/>
              <a:gd name="csY19" fmla="*/ 18288 h 18288"/>
              <a:gd name="csX20" fmla="*/ 0 w 6281928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1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2F82FF9-A0B4-48AF-B475-68CA8E7B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it-IT" sz="4000" b="1"/>
              <a:t>Architettura Software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E6054D15-D2B3-59A2-1653-0BF07CDD2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778" y="3309813"/>
            <a:ext cx="4810874" cy="2790306"/>
          </a:xfrm>
          <a:prstGeom prst="rect">
            <a:avLst/>
          </a:prstGeom>
        </p:spPr>
      </p:pic>
      <p:graphicFrame>
        <p:nvGraphicFramePr>
          <p:cNvPr id="13" name="Segnaposto contenuto 10">
            <a:extLst>
              <a:ext uri="{FF2B5EF4-FFF2-40B4-BE49-F238E27FC236}">
                <a16:creationId xmlns:a16="http://schemas.microsoft.com/office/drawing/2014/main" id="{E19A9632-D5E6-B97A-0737-21A141091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850019"/>
              </p:ext>
            </p:extLst>
          </p:nvPr>
        </p:nvGraphicFramePr>
        <p:xfrm>
          <a:off x="838201" y="2409568"/>
          <a:ext cx="5981278" cy="3690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1" name="Gruppo 20">
            <a:extLst>
              <a:ext uri="{FF2B5EF4-FFF2-40B4-BE49-F238E27FC236}">
                <a16:creationId xmlns:a16="http://schemas.microsoft.com/office/drawing/2014/main" id="{95D7B012-6D1A-176A-1599-6E62D329226F}"/>
              </a:ext>
            </a:extLst>
          </p:cNvPr>
          <p:cNvGrpSpPr/>
          <p:nvPr/>
        </p:nvGrpSpPr>
        <p:grpSpPr>
          <a:xfrm>
            <a:off x="7187519" y="437299"/>
            <a:ext cx="4810874" cy="2335399"/>
            <a:chOff x="0" y="3463893"/>
            <a:chExt cx="6044399" cy="1242455"/>
          </a:xfrm>
        </p:grpSpPr>
        <p:sp>
          <p:nvSpPr>
            <p:cNvPr id="26" name="Rettangolo con angoli arrotondati 25">
              <a:extLst>
                <a:ext uri="{FF2B5EF4-FFF2-40B4-BE49-F238E27FC236}">
                  <a16:creationId xmlns:a16="http://schemas.microsoft.com/office/drawing/2014/main" id="{E1595BCD-E5A4-0984-C801-27F47ED3E016}"/>
                </a:ext>
              </a:extLst>
            </p:cNvPr>
            <p:cNvSpPr/>
            <p:nvPr/>
          </p:nvSpPr>
          <p:spPr>
            <a:xfrm>
              <a:off x="0" y="3463893"/>
              <a:ext cx="6044399" cy="1202906"/>
            </a:xfrm>
            <a:prstGeom prst="roundRect">
              <a:avLst/>
            </a:prstGeom>
            <a:solidFill>
              <a:schemeClr val="bg2"/>
            </a:solidFill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E64D556B-CAFD-A8D8-1E79-C48DA128C55E}"/>
                </a:ext>
              </a:extLst>
            </p:cNvPr>
            <p:cNvSpPr txBox="1"/>
            <p:nvPr/>
          </p:nvSpPr>
          <p:spPr>
            <a:xfrm>
              <a:off x="214331" y="3463893"/>
              <a:ext cx="5615735" cy="12424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2" spcCol="1270" anchor="ctr" anchorCtr="0">
              <a:noAutofit/>
            </a:bodyPr>
            <a:lstStyle/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Stack Tecnologico Adottato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Linguaggio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Java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UI Framework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kern="1200" dirty="0" err="1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JavaFX</a:t>
              </a:r>
              <a:endParaRPr lang="it-IT" sz="1184" kern="1200" dirty="0">
                <a:solidFill>
                  <a:srgbClr val="4D4D4D"/>
                </a:solidFill>
                <a:latin typeface="+mn-lt"/>
                <a:ea typeface="+mn-ea"/>
                <a:cs typeface="+mn-cs"/>
              </a:endParaRPr>
            </a:p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kern="1200" dirty="0" err="1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PostgreSQL</a:t>
              </a:r>
              <a:r>
                <a:rPr lang="it-IT" sz="1184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 ecc.</a:t>
              </a:r>
            </a:p>
            <a:p>
              <a:pPr defTabSz="773240">
                <a:spcAft>
                  <a:spcPts val="619"/>
                </a:spcAft>
              </a:pPr>
              <a:endParaRPr lang="it-IT" sz="1184" b="1" kern="1200" dirty="0">
                <a:solidFill>
                  <a:srgbClr val="4D4D4D"/>
                </a:solidFill>
                <a:latin typeface="+mn-lt"/>
                <a:ea typeface="+mn-ea"/>
                <a:cs typeface="+mn-cs"/>
              </a:endParaRPr>
            </a:p>
            <a:p>
              <a:pPr defTabSz="773240">
                <a:spcAft>
                  <a:spcPts val="619"/>
                </a:spcAft>
              </a:pPr>
              <a:endParaRPr lang="it-IT" sz="1184" b="1" dirty="0">
                <a:solidFill>
                  <a:srgbClr val="4D4D4D"/>
                </a:solidFill>
              </a:endParaRPr>
            </a:p>
            <a:p>
              <a:pPr defTabSz="773240">
                <a:spcAft>
                  <a:spcPts val="619"/>
                </a:spcAft>
              </a:pPr>
              <a:endParaRPr lang="it-IT" sz="1184" b="1" kern="1200" dirty="0">
                <a:solidFill>
                  <a:srgbClr val="4D4D4D"/>
                </a:solidFill>
                <a:latin typeface="+mn-lt"/>
                <a:ea typeface="+mn-ea"/>
                <a:cs typeface="+mn-cs"/>
              </a:endParaRPr>
            </a:p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	Test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	</a:t>
              </a:r>
              <a:r>
                <a:rPr lang="it-IT" sz="1184" kern="1200" dirty="0" err="1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JUnit</a:t>
              </a:r>
              <a:r>
                <a:rPr lang="it-IT" sz="1184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 Project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	</a:t>
              </a:r>
              <a:r>
                <a:rPr lang="it-IT" sz="1184" b="1" kern="1200" dirty="0" err="1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Versioning</a:t>
              </a:r>
              <a:endParaRPr lang="it-IT" sz="1184" b="1" kern="1200" dirty="0">
                <a:solidFill>
                  <a:srgbClr val="4D4D4D"/>
                </a:solidFill>
                <a:latin typeface="+mn-lt"/>
                <a:ea typeface="+mn-ea"/>
                <a:cs typeface="+mn-cs"/>
              </a:endParaRPr>
            </a:p>
            <a:p>
              <a:pPr defTabSz="773240">
                <a:spcAft>
                  <a:spcPts val="619"/>
                </a:spcAft>
              </a:pPr>
              <a:r>
                <a:rPr lang="it-IT" sz="1184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	GitHub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b="1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	Project 		Management</a:t>
              </a:r>
            </a:p>
            <a:p>
              <a:pPr defTabSz="773240">
                <a:spcAft>
                  <a:spcPts val="619"/>
                </a:spcAft>
              </a:pPr>
              <a:r>
                <a:rPr lang="it-IT" sz="1184" kern="1200" dirty="0">
                  <a:solidFill>
                    <a:srgbClr val="4D4D4D"/>
                  </a:solidFill>
                  <a:latin typeface="+mn-lt"/>
                  <a:ea typeface="+mn-ea"/>
                  <a:cs typeface="+mn-cs"/>
                </a:rPr>
                <a:t>	Trello</a:t>
              </a:r>
            </a:p>
            <a:p>
              <a:pPr>
                <a:spcAft>
                  <a:spcPts val="600"/>
                </a:spcAft>
              </a:pPr>
              <a:endParaRPr lang="it-IT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925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D79DA70-3878-C816-BCEB-D25084AA9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it-IT" sz="4100" b="1"/>
              <a:t>Progettazione del Database</a:t>
            </a:r>
            <a:endParaRPr lang="it-IT" sz="4100"/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F5A97C-04C7-34CE-FFFB-895BD6B49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502919"/>
            <a:ext cx="6906769" cy="175795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it-IT" sz="1400" dirty="0"/>
              <a:t>Lo schema del database è stato prodotto realizzando prima un diagramma concettuale delle entità e delle associazioni richieste dall'applicazione, per poi procedere alla sintesi logica. Il risultato sono tre tabelle relazionali ottimizzate per le esigenze del music player.</a:t>
            </a:r>
          </a:p>
          <a:p>
            <a:pPr marL="0" indent="0">
              <a:buNone/>
            </a:pPr>
            <a:r>
              <a:rPr lang="it-IT" sz="1400" b="1" dirty="0"/>
              <a:t>Schema del Database</a:t>
            </a:r>
          </a:p>
          <a:p>
            <a:pPr fontAlgn="base"/>
            <a:r>
              <a:rPr lang="it-IT" sz="1400" dirty="0"/>
              <a:t>Track(</a:t>
            </a:r>
            <a:r>
              <a:rPr lang="it-IT" sz="1400" u="sng" dirty="0"/>
              <a:t>id</a:t>
            </a:r>
            <a:r>
              <a:rPr lang="it-IT" sz="1400" dirty="0"/>
              <a:t> , </a:t>
            </a:r>
            <a:r>
              <a:rPr lang="it-IT" sz="1400" dirty="0" err="1"/>
              <a:t>genre</a:t>
            </a:r>
            <a:r>
              <a:rPr lang="it-IT" sz="1400" dirty="0"/>
              <a:t> , </a:t>
            </a:r>
            <a:r>
              <a:rPr lang="it-IT" sz="1400" dirty="0" err="1"/>
              <a:t>length</a:t>
            </a:r>
            <a:r>
              <a:rPr lang="it-IT" sz="1400" dirty="0"/>
              <a:t> , </a:t>
            </a:r>
            <a:r>
              <a:rPr lang="it-IT" sz="1400" dirty="0" err="1"/>
              <a:t>year</a:t>
            </a:r>
            <a:r>
              <a:rPr lang="it-IT" sz="1400" dirty="0"/>
              <a:t> , tag , </a:t>
            </a:r>
            <a:r>
              <a:rPr lang="it-IT" sz="1400" dirty="0" err="1"/>
              <a:t>title</a:t>
            </a:r>
            <a:r>
              <a:rPr lang="it-IT" sz="1400" dirty="0"/>
              <a:t> , </a:t>
            </a:r>
            <a:r>
              <a:rPr lang="it-IT" sz="1400" dirty="0" err="1"/>
              <a:t>author</a:t>
            </a:r>
            <a:r>
              <a:rPr lang="it-IT" sz="1400" dirty="0"/>
              <a:t> , </a:t>
            </a:r>
            <a:r>
              <a:rPr lang="it-IT" sz="1400" dirty="0" err="1"/>
              <a:t>count_played</a:t>
            </a:r>
            <a:r>
              <a:rPr lang="it-IT" sz="1400" dirty="0"/>
              <a:t>)</a:t>
            </a:r>
          </a:p>
          <a:p>
            <a:pPr fontAlgn="base"/>
            <a:r>
              <a:rPr lang="it-IT" sz="1400" dirty="0"/>
              <a:t>Playlist(</a:t>
            </a:r>
            <a:r>
              <a:rPr lang="it-IT" sz="1400" u="sng" dirty="0"/>
              <a:t>id</a:t>
            </a:r>
            <a:r>
              <a:rPr lang="it-IT" sz="1400" dirty="0"/>
              <a:t> , </a:t>
            </a:r>
            <a:r>
              <a:rPr lang="it-IT" sz="1400" dirty="0" err="1"/>
              <a:t>title</a:t>
            </a:r>
            <a:r>
              <a:rPr lang="it-IT" sz="1400" dirty="0"/>
              <a:t> , </a:t>
            </a:r>
            <a:r>
              <a:rPr lang="it-IT" sz="1400" dirty="0" err="1"/>
              <a:t>count_played</a:t>
            </a:r>
            <a:r>
              <a:rPr lang="it-IT" sz="1400" dirty="0"/>
              <a:t>)</a:t>
            </a:r>
          </a:p>
          <a:p>
            <a:pPr fontAlgn="base"/>
            <a:r>
              <a:rPr lang="it-IT" sz="1400" dirty="0" err="1"/>
              <a:t>Track_Playlist</a:t>
            </a:r>
            <a:r>
              <a:rPr lang="it-IT" sz="1400" dirty="0"/>
              <a:t>(</a:t>
            </a:r>
            <a:r>
              <a:rPr lang="it-IT" sz="1400" u="sng" dirty="0" err="1"/>
              <a:t>playlist_id</a:t>
            </a:r>
            <a:r>
              <a:rPr lang="it-IT" sz="1400" dirty="0"/>
              <a:t> , </a:t>
            </a:r>
            <a:r>
              <a:rPr lang="it-IT" sz="1400" u="sng" dirty="0" err="1"/>
              <a:t>track_id</a:t>
            </a:r>
            <a:r>
              <a:rPr lang="it-IT" sz="1400" dirty="0"/>
              <a:t>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A1491B6-1634-AE37-4E81-AB22CD328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05" y="3525633"/>
            <a:ext cx="895475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2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9BBA0D9-87C2-B01C-E6FE-6D0A7CD5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3467"/>
            <a:ext cx="12192000" cy="744836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View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1D6BE7F-9583-B904-D9E3-3D0EC6D4D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977" y="1675227"/>
            <a:ext cx="857404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9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465909B-6F1E-0541-9284-4161504E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User Story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0F535-0CE5-7809-CC3E-6014C43F7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68" y="1806934"/>
            <a:ext cx="6906491" cy="5585619"/>
          </a:xfrm>
        </p:spPr>
        <p:txBody>
          <a:bodyPr numCol="2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it-IT" sz="1400" b="1" dirty="0"/>
              <a:t>Gestione Tracce (US-01 → US-04)</a:t>
            </a:r>
          </a:p>
          <a:p>
            <a:r>
              <a:rPr lang="it-IT" sz="1400" b="1" dirty="0"/>
              <a:t>US-01:</a:t>
            </a:r>
            <a:r>
              <a:rPr lang="it-IT" sz="1400" dirty="0"/>
              <a:t> Aggiungere una traccia (titolo, autore, durata, genere, anno)</a:t>
            </a:r>
          </a:p>
          <a:p>
            <a:r>
              <a:rPr lang="it-IT" sz="1400" b="1" dirty="0"/>
              <a:t>US-02:</a:t>
            </a:r>
            <a:r>
              <a:rPr lang="it-IT" sz="1400" dirty="0"/>
              <a:t> Modificare i dati di una traccia esistente</a:t>
            </a:r>
          </a:p>
          <a:p>
            <a:r>
              <a:rPr lang="it-IT" sz="1400" b="1" dirty="0"/>
              <a:t>US-03:</a:t>
            </a:r>
            <a:r>
              <a:rPr lang="it-IT" sz="1400" dirty="0"/>
              <a:t> Eliminare una traccia dalla libreria</a:t>
            </a:r>
          </a:p>
          <a:p>
            <a:r>
              <a:rPr lang="it-IT" sz="1400" b="1" dirty="0"/>
              <a:t>US-04:</a:t>
            </a:r>
            <a:r>
              <a:rPr lang="it-IT" sz="1400" dirty="0"/>
              <a:t> Visualizzare l'elenco di tutte le tracce con i relativi dettagli</a:t>
            </a:r>
          </a:p>
          <a:p>
            <a:pPr marL="0" indent="0">
              <a:buNone/>
            </a:pPr>
            <a:r>
              <a:rPr lang="it-IT" sz="1400" b="1" dirty="0"/>
              <a:t>Gestione Playlist (US-05 → US-09)</a:t>
            </a:r>
          </a:p>
          <a:p>
            <a:r>
              <a:rPr lang="it-IT" sz="1400" b="1" dirty="0"/>
              <a:t>US-05:</a:t>
            </a:r>
            <a:r>
              <a:rPr lang="it-IT" sz="1400" dirty="0"/>
              <a:t> Creare una playlist con un nome identificativo</a:t>
            </a:r>
          </a:p>
          <a:p>
            <a:r>
              <a:rPr lang="it-IT" sz="1400" b="1" dirty="0"/>
              <a:t>US-06:</a:t>
            </a:r>
            <a:r>
              <a:rPr lang="it-IT" sz="1400" dirty="0"/>
              <a:t> Aggiungere tracce a una playlist</a:t>
            </a:r>
          </a:p>
          <a:p>
            <a:r>
              <a:rPr lang="it-IT" sz="1400" b="1" dirty="0"/>
              <a:t>US-07:</a:t>
            </a:r>
            <a:r>
              <a:rPr lang="it-IT" sz="1400" dirty="0"/>
              <a:t> Rimuovere tracce da una playlist</a:t>
            </a:r>
          </a:p>
          <a:p>
            <a:r>
              <a:rPr lang="it-IT" sz="1400" b="1" dirty="0"/>
              <a:t>US-08:</a:t>
            </a:r>
            <a:r>
              <a:rPr lang="it-IT" sz="1400" dirty="0"/>
              <a:t> Eliminare una playlist</a:t>
            </a:r>
          </a:p>
          <a:p>
            <a:r>
              <a:rPr lang="it-IT" sz="1400" b="1" dirty="0"/>
              <a:t>US-09:</a:t>
            </a:r>
            <a:r>
              <a:rPr lang="it-IT" sz="1400" dirty="0"/>
              <a:t> Visualizzare il contenuto di una playlist</a:t>
            </a:r>
          </a:p>
          <a:p>
            <a:endParaRPr lang="it-IT" sz="1400" b="1" dirty="0"/>
          </a:p>
          <a:p>
            <a:endParaRPr lang="it-IT" sz="1400" b="1" dirty="0"/>
          </a:p>
          <a:p>
            <a:endParaRPr lang="it-IT" sz="1400" b="1" dirty="0"/>
          </a:p>
          <a:p>
            <a:endParaRPr lang="it-IT" sz="1400" b="1" dirty="0"/>
          </a:p>
          <a:p>
            <a:endParaRPr lang="it-IT" sz="1400" b="1" dirty="0"/>
          </a:p>
          <a:p>
            <a:endParaRPr lang="it-IT" sz="1400" b="1" dirty="0"/>
          </a:p>
          <a:p>
            <a:pPr marL="0" indent="0">
              <a:buNone/>
            </a:pPr>
            <a:endParaRPr lang="it-IT" sz="1400" b="1" dirty="0"/>
          </a:p>
          <a:p>
            <a:pPr marL="0" indent="0">
              <a:buNone/>
            </a:pPr>
            <a:endParaRPr lang="it-IT" sz="1400" b="1" dirty="0"/>
          </a:p>
          <a:p>
            <a:pPr marL="0" indent="0">
              <a:buNone/>
            </a:pPr>
            <a:endParaRPr lang="it-IT" sz="1400" b="1" dirty="0"/>
          </a:p>
          <a:p>
            <a:pPr marL="0" indent="0">
              <a:buNone/>
            </a:pPr>
            <a:endParaRPr lang="it-IT" sz="1400" b="1" dirty="0"/>
          </a:p>
          <a:p>
            <a:pPr marL="0" indent="0">
              <a:buNone/>
            </a:pPr>
            <a:r>
              <a:rPr lang="it-IT" sz="1400" b="1" dirty="0"/>
              <a:t>Riproduzione (US-10 → US-16)</a:t>
            </a:r>
          </a:p>
          <a:p>
            <a:r>
              <a:rPr lang="it-IT" sz="1400" b="1" dirty="0"/>
              <a:t>US-10:</a:t>
            </a:r>
            <a:r>
              <a:rPr lang="it-IT" sz="1400" dirty="0"/>
              <a:t> Avviare la riproduzione di una traccia singola</a:t>
            </a:r>
          </a:p>
          <a:p>
            <a:r>
              <a:rPr lang="it-IT" sz="1400" b="1" dirty="0"/>
              <a:t>US-11:</a:t>
            </a:r>
            <a:r>
              <a:rPr lang="it-IT" sz="1400" dirty="0"/>
              <a:t> Avviare la riproduzione di una playlist</a:t>
            </a:r>
          </a:p>
          <a:p>
            <a:r>
              <a:rPr lang="it-IT" sz="1400" b="1" dirty="0"/>
              <a:t>US-12:</a:t>
            </a:r>
            <a:r>
              <a:rPr lang="it-IT" sz="1400" dirty="0"/>
              <a:t> Mettere in pausa e riprendere la riproduzione</a:t>
            </a:r>
          </a:p>
          <a:p>
            <a:r>
              <a:rPr lang="it-IT" sz="1400" b="1" dirty="0"/>
              <a:t>US-13:</a:t>
            </a:r>
            <a:r>
              <a:rPr lang="it-IT" sz="1400" dirty="0"/>
              <a:t> Saltare alla traccia successiva o precedente</a:t>
            </a:r>
          </a:p>
          <a:p>
            <a:r>
              <a:rPr lang="it-IT" sz="1400" b="1" dirty="0"/>
              <a:t>US-14:</a:t>
            </a:r>
            <a:r>
              <a:rPr lang="it-IT" sz="1400" dirty="0"/>
              <a:t> Scegliere la modalità di riproduzione (sequenziale, shuffle, loop)</a:t>
            </a:r>
          </a:p>
          <a:p>
            <a:r>
              <a:rPr lang="it-IT" sz="1400" b="1" dirty="0"/>
              <a:t>US-15:</a:t>
            </a:r>
            <a:r>
              <a:rPr lang="it-IT" sz="1400" dirty="0"/>
              <a:t> Modificare la playlist durante la riproduzione</a:t>
            </a:r>
          </a:p>
          <a:p>
            <a:r>
              <a:rPr lang="it-IT" sz="1400" b="1" dirty="0"/>
              <a:t>US-16:</a:t>
            </a:r>
            <a:r>
              <a:rPr lang="it-IT" sz="1400" dirty="0"/>
              <a:t> Vedere lo stato corrente della riproduzione nell'interfaccia</a:t>
            </a:r>
          </a:p>
          <a:p>
            <a:pPr marL="0" indent="0">
              <a:buNone/>
            </a:pPr>
            <a:r>
              <a:rPr lang="it-IT" sz="1400" b="1" dirty="0"/>
              <a:t>Funzionalità Avanzate (US-17 → US-24)</a:t>
            </a:r>
          </a:p>
          <a:p>
            <a:r>
              <a:rPr lang="it-IT" sz="1400" b="1" dirty="0"/>
              <a:t>US-17:</a:t>
            </a:r>
            <a:r>
              <a:rPr lang="it-IT" sz="1400" dirty="0"/>
              <a:t> Annullare l'ultima operazione di aggiunta o rimozione</a:t>
            </a:r>
          </a:p>
          <a:p>
            <a:r>
              <a:rPr lang="it-IT" sz="1400" b="1" dirty="0"/>
              <a:t>US-18–19:</a:t>
            </a:r>
            <a:r>
              <a:rPr lang="it-IT" sz="1400" dirty="0"/>
              <a:t> Vedere nella homepage tracce e playlist più riprodotte</a:t>
            </a:r>
          </a:p>
          <a:p>
            <a:r>
              <a:rPr lang="it-IT" sz="1400" b="1" dirty="0"/>
              <a:t>US-20–21:</a:t>
            </a:r>
            <a:r>
              <a:rPr lang="it-IT" sz="1400" dirty="0"/>
              <a:t> Generare automaticamente playlist per genere o anno</a:t>
            </a:r>
          </a:p>
          <a:p>
            <a:r>
              <a:rPr lang="it-IT" sz="1400" b="1" dirty="0"/>
              <a:t>US-22–23:</a:t>
            </a:r>
            <a:r>
              <a:rPr lang="it-IT" sz="1400" dirty="0"/>
              <a:t> Aggiungere tag visivi e usarli per generare playlist</a:t>
            </a:r>
          </a:p>
          <a:p>
            <a:r>
              <a:rPr lang="it-IT" sz="1400" b="1" dirty="0"/>
              <a:t>US-24:</a:t>
            </a:r>
            <a:r>
              <a:rPr lang="it-IT" sz="1400" dirty="0"/>
              <a:t> Riordinare le tracce in una playlist in qualsiasi momento</a:t>
            </a:r>
          </a:p>
          <a:p>
            <a:pPr marL="0" indent="0">
              <a:buNone/>
            </a:pPr>
            <a:endParaRPr lang="it-IT" sz="900" dirty="0"/>
          </a:p>
          <a:p>
            <a:pPr marL="0" indent="0">
              <a:buNone/>
            </a:pPr>
            <a:endParaRPr lang="it-IT" sz="9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AA4A6E-E172-7662-23F1-C55E0E8FE9CE}"/>
              </a:ext>
            </a:extLst>
          </p:cNvPr>
          <p:cNvSpPr txBox="1"/>
          <p:nvPr/>
        </p:nvSpPr>
        <p:spPr>
          <a:xfrm>
            <a:off x="4167268" y="329606"/>
            <a:ext cx="7521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Le seguenti user story coprono l'intero ciclo di vita della gestione musicale: dalla creazione e modifica delle tracce, alla gestione delle playlist, fino al controllo della riproduzione e alle funzionalità avanzate come la generazione automatica e i tag visivi.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083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A42394-0155-C3E0-742E-9E554DB0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it-IT" sz="3700" b="1"/>
              <a:t>First Sprint Planning &amp; Stima Use Case Point</a:t>
            </a:r>
            <a:br>
              <a:rPr lang="it-IT" sz="3700" b="1"/>
            </a:br>
            <a:endParaRPr lang="it-IT" sz="37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2942F1-74B6-344D-FFEA-3032E039E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/>
              <a:t>Il primo sprint include le user story </a:t>
            </a:r>
            <a:r>
              <a:rPr lang="it-IT" sz="2200" b="1"/>
              <a:t>US-01, US-02, US-03 e US-04</a:t>
            </a:r>
            <a:r>
              <a:rPr lang="it-IT" sz="2200"/>
              <a:t> relative alla gestione delle tracce (aggiunta, modifica, eliminazione, visualizzazione). La stima dell'effort è stata calcolata con il metodo </a:t>
            </a:r>
            <a:r>
              <a:rPr lang="it-IT" sz="2200" b="1"/>
              <a:t>Use Case Point (UCP)</a:t>
            </a:r>
            <a:r>
              <a:rPr lang="it-IT" sz="2200"/>
              <a:t>, una tecnica di stima OO che considera la complessità dei casi d'uso, degli attori e i fattori tecnici e ambientali.</a:t>
            </a:r>
          </a:p>
          <a:p>
            <a:endParaRPr lang="it-IT" sz="2200"/>
          </a:p>
        </p:txBody>
      </p:sp>
    </p:spTree>
    <p:extLst>
      <p:ext uri="{BB962C8B-B14F-4D97-AF65-F5344CB8AC3E}">
        <p14:creationId xmlns:p14="http://schemas.microsoft.com/office/powerpoint/2010/main" val="167736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527D59-9FA4-A8F7-7E52-206A2DA9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 fontScale="90000"/>
          </a:bodyPr>
          <a:lstStyle/>
          <a:p>
            <a:r>
              <a:rPr lang="it-IT" sz="5400" b="1" dirty="0">
                <a:solidFill>
                  <a:srgbClr val="FFFFFF"/>
                </a:solidFill>
              </a:rPr>
              <a:t>Definition of Done</a:t>
            </a:r>
            <a:br>
              <a:rPr lang="it-IT" sz="5400" b="1" dirty="0">
                <a:solidFill>
                  <a:srgbClr val="FFFFFF"/>
                </a:solidFill>
              </a:rPr>
            </a:br>
            <a:br>
              <a:rPr lang="it-IT" sz="800" b="1" dirty="0">
                <a:solidFill>
                  <a:srgbClr val="FFFFFF"/>
                </a:solidFill>
              </a:rPr>
            </a:br>
            <a:r>
              <a:rPr lang="it-IT" sz="1400" dirty="0">
                <a:solidFill>
                  <a:schemeClr val="bg1"/>
                </a:solidFill>
              </a:rPr>
              <a:t>La </a:t>
            </a:r>
            <a:r>
              <a:rPr lang="it-IT" sz="1400" b="1" dirty="0">
                <a:solidFill>
                  <a:schemeClr val="bg1"/>
                </a:solidFill>
              </a:rPr>
              <a:t>Definition of Done</a:t>
            </a:r>
            <a:r>
              <a:rPr lang="it-IT" sz="1400" dirty="0">
                <a:solidFill>
                  <a:schemeClr val="bg1"/>
                </a:solidFill>
              </a:rPr>
              <a:t> è l'insieme di criteri che una user story deve soddisfare per essere considerata completata e potenzialmente rilasciabile. Ogni membro del team è responsabile di verificare che tutti i punti siano rispettati prima di dichiarare una storia "Done". Questa definizione garantisce qualità costante e trasparenza nel processo di sviluppo.</a:t>
            </a:r>
            <a:br>
              <a:rPr lang="it-IT" sz="1400" dirty="0">
                <a:solidFill>
                  <a:schemeClr val="bg1"/>
                </a:solidFill>
              </a:rPr>
            </a:br>
            <a:endParaRPr lang="it-IT" sz="1400" dirty="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421089-1DAF-C4D4-4BB3-9078A35D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r>
              <a:rPr lang="it-IT" sz="1900"/>
              <a:t>Tutti i test unitari scritti ed eseguiti con successo</a:t>
            </a:r>
          </a:p>
          <a:p>
            <a:r>
              <a:rPr lang="it-IT" sz="1900"/>
              <a:t>Nessun bug noto lasciato aperto sulla user story</a:t>
            </a:r>
          </a:p>
          <a:p>
            <a:r>
              <a:rPr lang="it-IT" sz="1900"/>
              <a:t>Code review completata da almeno un altro membro del team</a:t>
            </a:r>
          </a:p>
          <a:p>
            <a:r>
              <a:rPr lang="it-IT" sz="1900"/>
              <a:t>Il codice rispetta le convenzioni di naming e formattazione concordate dal team</a:t>
            </a:r>
          </a:p>
          <a:p>
            <a:r>
              <a:rPr lang="it-IT" sz="1900"/>
              <a:t>Il codice è stato integrato nel repository Git</a:t>
            </a:r>
          </a:p>
          <a:p>
            <a:r>
              <a:rPr lang="it-IT" sz="1900"/>
              <a:t>La funzionalità è dimostrabile nell'interfaccia utente senza crash o comportamenti inattesi</a:t>
            </a:r>
          </a:p>
          <a:p>
            <a:r>
              <a:rPr lang="it-IT" sz="1900"/>
              <a:t>Il product backlog e il Trello sono aggiornati a riflettere il completamento della storia</a:t>
            </a:r>
          </a:p>
          <a:p>
            <a:r>
              <a:rPr lang="it-IT" sz="1900"/>
              <a:t>Il tempo effettivo impiegato è stato registrato su Trello</a:t>
            </a:r>
          </a:p>
          <a:p>
            <a:endParaRPr lang="it-IT" sz="1900"/>
          </a:p>
        </p:txBody>
      </p:sp>
    </p:spTree>
    <p:extLst>
      <p:ext uri="{BB962C8B-B14F-4D97-AF65-F5344CB8AC3E}">
        <p14:creationId xmlns:p14="http://schemas.microsoft.com/office/powerpoint/2010/main" val="130144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4ECEDD5-0A87-5B63-09D8-789DAEB3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Stima primo Sprint</a:t>
            </a:r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5FFB95ED-78FE-AFEC-1DD3-B1FE5E4E0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it-IT" sz="1300" b="1" dirty="0"/>
              <a:t>Calcolo UAW (</a:t>
            </a:r>
            <a:r>
              <a:rPr lang="it-IT" sz="1300" b="1" dirty="0" err="1"/>
              <a:t>Actor</a:t>
            </a:r>
            <a:r>
              <a:rPr lang="it-IT" sz="1300" b="1" dirty="0"/>
              <a:t> Weight)</a:t>
            </a:r>
          </a:p>
          <a:p>
            <a:r>
              <a:rPr lang="it-IT" sz="1300" b="1" dirty="0"/>
              <a:t>Attore Utente</a:t>
            </a:r>
            <a:r>
              <a:rPr lang="it-IT" sz="1300" dirty="0"/>
              <a:t> (GUI) → Complesso: peso 3</a:t>
            </a:r>
            <a:br>
              <a:rPr lang="it-IT" sz="1300" dirty="0"/>
            </a:br>
            <a:r>
              <a:rPr lang="it-IT" sz="1300" b="1" dirty="0"/>
              <a:t>Attore </a:t>
            </a:r>
            <a:r>
              <a:rPr lang="it-IT" sz="1300" b="1" dirty="0" err="1"/>
              <a:t>PostgreSQL</a:t>
            </a:r>
            <a:r>
              <a:rPr lang="it-IT" sz="1300" dirty="0"/>
              <a:t> (sistema esterno) → Semplice: peso 1</a:t>
            </a:r>
          </a:p>
          <a:p>
            <a:r>
              <a:rPr lang="it-IT" sz="1300" b="1" dirty="0"/>
              <a:t>UAW = (1×1) + (0×2) + (1×3) = 4</a:t>
            </a:r>
            <a:endParaRPr lang="it-IT" sz="1300" dirty="0"/>
          </a:p>
          <a:p>
            <a:r>
              <a:rPr lang="it-IT" sz="1300" b="1" dirty="0"/>
              <a:t>Calcolo UUCW (Use Case Weight) UUCW = (1×5) + (2×10) + (0×15) = 25</a:t>
            </a:r>
          </a:p>
          <a:p>
            <a:r>
              <a:rPr lang="it-IT" sz="1300" b="1" dirty="0"/>
              <a:t>Fattori Tecnici (TCF)</a:t>
            </a:r>
          </a:p>
          <a:p>
            <a:r>
              <a:rPr lang="it-IT" sz="1300" dirty="0"/>
              <a:t>TCF = 0.6 + (0.01 × 15.5) = </a:t>
            </a:r>
            <a:r>
              <a:rPr lang="it-IT" sz="1300" b="1" dirty="0"/>
              <a:t>0.755</a:t>
            </a:r>
            <a:endParaRPr lang="it-IT" sz="1300" dirty="0"/>
          </a:p>
          <a:p>
            <a:r>
              <a:rPr lang="it-IT" sz="1300" dirty="0"/>
              <a:t>Fattori più rilevanti: Riutilizzabilità codice (T5=3), Facilità d'uso (T7=3), Manutenzione (T9=3), Concorrenza (T10=2). L'applicazione è desktop locale, quindi Sistema Distribuito (T1=0) e Portabilità (T8=0) non sono requisiti critici.</a:t>
            </a:r>
          </a:p>
          <a:p>
            <a:r>
              <a:rPr lang="it-IT" sz="1300" b="1" dirty="0"/>
              <a:t>Fattori Ambientali (ECF)</a:t>
            </a:r>
          </a:p>
          <a:p>
            <a:r>
              <a:rPr lang="it-IT" sz="1300" dirty="0"/>
              <a:t>ECF = 1.4 + (-0.03 × 10) = </a:t>
            </a:r>
            <a:r>
              <a:rPr lang="it-IT" sz="1300" b="1" dirty="0"/>
              <a:t>1.1</a:t>
            </a:r>
            <a:endParaRPr lang="it-IT" sz="1300" dirty="0"/>
          </a:p>
          <a:p>
            <a:r>
              <a:rPr lang="it-IT" sz="1300" dirty="0"/>
              <a:t>Fattori chiave: Esperienza OO del team (E3=3), Motivazione (E5=4), Lavoro part-time (E7=3), Requisiti instabili (E6=2), Prima applicazione </a:t>
            </a:r>
            <a:r>
              <a:rPr lang="it-IT" sz="1300" dirty="0" err="1"/>
              <a:t>Scrum</a:t>
            </a:r>
            <a:r>
              <a:rPr lang="it-IT" sz="1300" dirty="0"/>
              <a:t> (E1=1), </a:t>
            </a:r>
            <a:r>
              <a:rPr lang="it-IT" sz="1300" dirty="0" err="1"/>
              <a:t>JavaFX</a:t>
            </a:r>
            <a:r>
              <a:rPr lang="it-IT" sz="1300" dirty="0"/>
              <a:t> richiede </a:t>
            </a:r>
            <a:r>
              <a:rPr lang="it-IT" sz="1300" dirty="0" err="1"/>
              <a:t>ri</a:t>
            </a:r>
            <a:r>
              <a:rPr lang="it-IT" sz="1300" dirty="0"/>
              <a:t>-apprendimento (E8=2).</a:t>
            </a:r>
          </a:p>
          <a:p>
            <a:r>
              <a:rPr lang="it-IT" sz="1300" b="1" dirty="0"/>
              <a:t>Risultato Finale UCP</a:t>
            </a:r>
          </a:p>
          <a:p>
            <a:r>
              <a:rPr lang="it-IT" sz="1300" b="1" dirty="0"/>
              <a:t>UCP = </a:t>
            </a:r>
            <a:r>
              <a:rPr lang="it-IT" sz="1300" dirty="0"/>
              <a:t>(25 + 4) × 0.755 × 1.10 = </a:t>
            </a:r>
            <a:r>
              <a:rPr lang="it-IT" sz="1300" b="1" dirty="0"/>
              <a:t>24</a:t>
            </a:r>
            <a:endParaRPr lang="it-IT" sz="1300" dirty="0"/>
          </a:p>
          <a:p>
            <a:r>
              <a:rPr lang="it-IT" sz="1300" b="1" dirty="0" err="1"/>
              <a:t>Effort</a:t>
            </a:r>
            <a:r>
              <a:rPr lang="it-IT" sz="1300" b="1" dirty="0"/>
              <a:t> Stimato</a:t>
            </a:r>
          </a:p>
          <a:p>
            <a:r>
              <a:rPr lang="it-IT" sz="1300" dirty="0"/>
              <a:t>24 × 2 = </a:t>
            </a:r>
            <a:r>
              <a:rPr lang="it-IT" sz="1300" b="1" dirty="0"/>
              <a:t>48 ore</a:t>
            </a:r>
            <a:endParaRPr lang="it-IT" sz="1300" dirty="0"/>
          </a:p>
          <a:p>
            <a:endParaRPr lang="it-IT" sz="1300" dirty="0"/>
          </a:p>
          <a:p>
            <a:endParaRPr lang="it-IT" sz="1300" b="1" dirty="0"/>
          </a:p>
          <a:p>
            <a:endParaRPr lang="it-IT" sz="1300" dirty="0"/>
          </a:p>
        </p:txBody>
      </p:sp>
    </p:spTree>
    <p:extLst>
      <p:ext uri="{BB962C8B-B14F-4D97-AF65-F5344CB8AC3E}">
        <p14:creationId xmlns:p14="http://schemas.microsoft.com/office/powerpoint/2010/main" val="340855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970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Tema di Office</vt:lpstr>
      <vt:lpstr>Pre-Game &amp; Architettura del Sistema </vt:lpstr>
      <vt:lpstr>Architettura Software</vt:lpstr>
      <vt:lpstr>Progettazione del Database</vt:lpstr>
      <vt:lpstr>View</vt:lpstr>
      <vt:lpstr>User Story</vt:lpstr>
      <vt:lpstr>First Sprint Planning &amp; Stima Use Case Point </vt:lpstr>
      <vt:lpstr>Definition of Done  La Definition of Done è l'insieme di criteri che una user story deve soddisfare per essere considerata completata e potenzialmente rilasciabile. Ogni membro del team è responsabile di verificare che tutti i punti siano rispettati prima di dichiarare una storia "Done". Questa definizione garantisce qualità costante e trasparenza nel processo di sviluppo. </vt:lpstr>
      <vt:lpstr>Stima primo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Ignazio Scassillo - Nica S.r.l.</dc:creator>
  <cp:lastModifiedBy>Ignazio Scassillo - Nica S.r.l.</cp:lastModifiedBy>
  <cp:revision>4</cp:revision>
  <dcterms:created xsi:type="dcterms:W3CDTF">2026-05-27T17:13:57Z</dcterms:created>
  <dcterms:modified xsi:type="dcterms:W3CDTF">2026-05-28T10:34:43Z</dcterms:modified>
</cp:coreProperties>
</file>